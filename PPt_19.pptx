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8"/>
  </p:notesMasterIdLst>
  <p:sldIdLst>
    <p:sldId id="256" r:id="rId2"/>
    <p:sldId id="257" r:id="rId3"/>
    <p:sldId id="287" r:id="rId4"/>
    <p:sldId id="288" r:id="rId5"/>
    <p:sldId id="259" r:id="rId6"/>
    <p:sldId id="258" r:id="rId7"/>
    <p:sldId id="268" r:id="rId8"/>
    <p:sldId id="269" r:id="rId9"/>
    <p:sldId id="260" r:id="rId10"/>
    <p:sldId id="270" r:id="rId11"/>
    <p:sldId id="261" r:id="rId12"/>
    <p:sldId id="262" r:id="rId13"/>
    <p:sldId id="271" r:id="rId14"/>
    <p:sldId id="272" r:id="rId15"/>
    <p:sldId id="273" r:id="rId16"/>
    <p:sldId id="274" r:id="rId17"/>
    <p:sldId id="275" r:id="rId18"/>
    <p:sldId id="284" r:id="rId19"/>
    <p:sldId id="263" r:id="rId20"/>
    <p:sldId id="276" r:id="rId21"/>
    <p:sldId id="277" r:id="rId22"/>
    <p:sldId id="278" r:id="rId23"/>
    <p:sldId id="279" r:id="rId24"/>
    <p:sldId id="280" r:id="rId25"/>
    <p:sldId id="281" r:id="rId26"/>
    <p:sldId id="285" r:id="rId27"/>
    <p:sldId id="286" r:id="rId28"/>
    <p:sldId id="282" r:id="rId29"/>
    <p:sldId id="283" r:id="rId30"/>
    <p:sldId id="290" r:id="rId31"/>
    <p:sldId id="291" r:id="rId32"/>
    <p:sldId id="264" r:id="rId33"/>
    <p:sldId id="289" r:id="rId34"/>
    <p:sldId id="265" r:id="rId35"/>
    <p:sldId id="267" r:id="rId36"/>
    <p:sldId id="266" r:id="rId37"/>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5" d="100"/>
          <a:sy n="85" d="100"/>
        </p:scale>
        <p:origin x="590"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ghunandhan meegada" userId="c86cfa18d5a7dc8b" providerId="LiveId" clId="{9C0E9EC6-BCAD-4D1F-801A-63BEE859599D}"/>
    <pc:docChg chg="custSel modSld">
      <pc:chgData name="raghunandhan meegada" userId="c86cfa18d5a7dc8b" providerId="LiveId" clId="{9C0E9EC6-BCAD-4D1F-801A-63BEE859599D}" dt="2025-05-03T18:16:39.433" v="2" actId="20577"/>
      <pc:docMkLst>
        <pc:docMk/>
      </pc:docMkLst>
      <pc:sldChg chg="modSp mod">
        <pc:chgData name="raghunandhan meegada" userId="c86cfa18d5a7dc8b" providerId="LiveId" clId="{9C0E9EC6-BCAD-4D1F-801A-63BEE859599D}" dt="2025-05-03T18:16:39.433" v="2" actId="20577"/>
        <pc:sldMkLst>
          <pc:docMk/>
          <pc:sldMk cId="0" sldId="256"/>
        </pc:sldMkLst>
        <pc:spChg chg="mod">
          <ac:chgData name="raghunandhan meegada" userId="c86cfa18d5a7dc8b" providerId="LiveId" clId="{9C0E9EC6-BCAD-4D1F-801A-63BEE859599D}" dt="2025-05-03T18:16:39.433" v="2" actId="20577"/>
          <ac:spMkLst>
            <pc:docMk/>
            <pc:sldMk cId="0" sldId="256"/>
            <ac:spMk id="3" creationId="{DDBF6114-1355-BBB1-9BB9-1DA6654474C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6045B8-76FA-7846-DB98-F5FF4FACEB8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IN"/>
          </a:p>
        </p:txBody>
      </p:sp>
      <p:sp>
        <p:nvSpPr>
          <p:cNvPr id="3" name="Date Placeholder 2">
            <a:extLst>
              <a:ext uri="{FF2B5EF4-FFF2-40B4-BE49-F238E27FC236}">
                <a16:creationId xmlns:a16="http://schemas.microsoft.com/office/drawing/2014/main" id="{22B8BD63-9684-6AF1-0D68-3890F60B8CA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E83724E9-682D-42EF-ABFD-42111C78436C}" type="datetimeFigureOut">
              <a:rPr lang="en-IN"/>
              <a:pPr>
                <a:defRPr/>
              </a:pPr>
              <a:t>03-05-2025</a:t>
            </a:fld>
            <a:endParaRPr lang="en-IN"/>
          </a:p>
        </p:txBody>
      </p:sp>
      <p:sp>
        <p:nvSpPr>
          <p:cNvPr id="4" name="Slide Image Placeholder 3">
            <a:extLst>
              <a:ext uri="{FF2B5EF4-FFF2-40B4-BE49-F238E27FC236}">
                <a16:creationId xmlns:a16="http://schemas.microsoft.com/office/drawing/2014/main" id="{E6BFE9D8-87C6-E1DE-01D8-BD302205FA1D}"/>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641CAC10-0446-20AC-949D-97CC57BE4CD2}"/>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4DCDA200-86D7-9D54-7AD8-DD1A76B4A005}"/>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IN"/>
          </a:p>
        </p:txBody>
      </p:sp>
      <p:sp>
        <p:nvSpPr>
          <p:cNvPr id="7" name="Slide Number Placeholder 6">
            <a:extLst>
              <a:ext uri="{FF2B5EF4-FFF2-40B4-BE49-F238E27FC236}">
                <a16:creationId xmlns:a16="http://schemas.microsoft.com/office/drawing/2014/main" id="{1670944E-6894-743E-1192-A202D41F70FF}"/>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3AD7C2C-AABF-442C-AAD6-CC310BDE348B}" type="slidenum">
              <a:rPr lang="en-IN" altLang="en-US"/>
              <a:pPr/>
              <a:t>‹#›</a:t>
            </a:fld>
            <a:endParaRPr lang="en-I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05F6B3B-FAFF-CEA9-C782-54BA281A709B}"/>
              </a:ext>
            </a:extLst>
          </p:cNvPr>
          <p:cNvSpPr>
            <a:spLocks noGrp="1"/>
          </p:cNvSpPr>
          <p:nvPr>
            <p:ph type="dt" sz="half" idx="10"/>
          </p:nvPr>
        </p:nvSpPr>
        <p:spPr/>
        <p:txBody>
          <a:bodyPr/>
          <a:lstStyle>
            <a:lvl1pPr>
              <a:defRPr/>
            </a:lvl1pPr>
          </a:lstStyle>
          <a:p>
            <a:pPr>
              <a:defRPr/>
            </a:pPr>
            <a:fld id="{DE33EC18-DC12-4744-96F0-3E32C06A55CE}" type="datetime1">
              <a:rPr lang="en-IN"/>
              <a:pPr>
                <a:defRPr/>
              </a:pPr>
              <a:t>03-05-2025</a:t>
            </a:fld>
            <a:endParaRPr lang="en-IN"/>
          </a:p>
        </p:txBody>
      </p:sp>
      <p:sp>
        <p:nvSpPr>
          <p:cNvPr id="5" name="Footer Placeholder 4">
            <a:extLst>
              <a:ext uri="{FF2B5EF4-FFF2-40B4-BE49-F238E27FC236}">
                <a16:creationId xmlns:a16="http://schemas.microsoft.com/office/drawing/2014/main" id="{2D061832-8471-5E59-DA99-D0D312BE7A48}"/>
              </a:ext>
            </a:extLst>
          </p:cNvPr>
          <p:cNvSpPr>
            <a:spLocks noGrp="1"/>
          </p:cNvSpPr>
          <p:nvPr>
            <p:ph type="ftr" sz="quarter" idx="11"/>
          </p:nvPr>
        </p:nvSpPr>
        <p:spPr/>
        <p:txBody>
          <a:bodyPr/>
          <a:lstStyle>
            <a:lvl1pPr>
              <a:defRPr/>
            </a:lvl1pPr>
          </a:lstStyle>
          <a:p>
            <a:pPr>
              <a:defRPr/>
            </a:pPr>
            <a:r>
              <a:rPr lang="en-IN"/>
              <a:t>Project Presentation 2023</a:t>
            </a:r>
          </a:p>
        </p:txBody>
      </p:sp>
      <p:sp>
        <p:nvSpPr>
          <p:cNvPr id="6" name="Slide Number Placeholder 5">
            <a:extLst>
              <a:ext uri="{FF2B5EF4-FFF2-40B4-BE49-F238E27FC236}">
                <a16:creationId xmlns:a16="http://schemas.microsoft.com/office/drawing/2014/main" id="{E84F4320-F55B-0DA0-6B5D-91D9643CD684}"/>
              </a:ext>
            </a:extLst>
          </p:cNvPr>
          <p:cNvSpPr>
            <a:spLocks noGrp="1"/>
          </p:cNvSpPr>
          <p:nvPr>
            <p:ph type="sldNum" sz="quarter" idx="12"/>
          </p:nvPr>
        </p:nvSpPr>
        <p:spPr/>
        <p:txBody>
          <a:bodyPr/>
          <a:lstStyle>
            <a:lvl1pPr>
              <a:defRPr/>
            </a:lvl1pPr>
          </a:lstStyle>
          <a:p>
            <a:fld id="{A347CF71-8D0F-4BC9-93F9-FDAD0EC62AF1}" type="slidenum">
              <a:rPr lang="en-IN" altLang="en-US"/>
              <a:pPr/>
              <a:t>‹#›</a:t>
            </a:fld>
            <a:endParaRPr lang="en-IN" altLang="en-US"/>
          </a:p>
        </p:txBody>
      </p:sp>
    </p:spTree>
    <p:extLst>
      <p:ext uri="{BB962C8B-B14F-4D97-AF65-F5344CB8AC3E}">
        <p14:creationId xmlns:p14="http://schemas.microsoft.com/office/powerpoint/2010/main" val="267626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8">
            <a:extLst>
              <a:ext uri="{FF2B5EF4-FFF2-40B4-BE49-F238E27FC236}">
                <a16:creationId xmlns:a16="http://schemas.microsoft.com/office/drawing/2014/main" id="{3CE75E8F-850A-395F-8FDA-B5B026403F7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48775" y="0"/>
            <a:ext cx="29432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9DB064E6-D1C8-1C45-92D7-C3D0908447E8}"/>
              </a:ext>
            </a:extLst>
          </p:cNvPr>
          <p:cNvSpPr>
            <a:spLocks noGrp="1"/>
          </p:cNvSpPr>
          <p:nvPr>
            <p:ph type="dt" sz="half" idx="10"/>
          </p:nvPr>
        </p:nvSpPr>
        <p:spPr/>
        <p:txBody>
          <a:bodyPr/>
          <a:lstStyle>
            <a:lvl1pPr>
              <a:defRPr smtClean="0">
                <a:solidFill>
                  <a:schemeClr val="tx1"/>
                </a:solidFill>
              </a:defRPr>
            </a:lvl1pPr>
          </a:lstStyle>
          <a:p>
            <a:pPr>
              <a:defRPr/>
            </a:pPr>
            <a:fld id="{48A3CD4E-5194-45F6-B9C3-47A7606E5BA7}" type="datetime1">
              <a:rPr lang="en-IN"/>
              <a:pPr>
                <a:defRPr/>
              </a:pPr>
              <a:t>03-05-2025</a:t>
            </a:fld>
            <a:endParaRPr lang="en-IN" dirty="0"/>
          </a:p>
        </p:txBody>
      </p:sp>
      <p:sp>
        <p:nvSpPr>
          <p:cNvPr id="6" name="Footer Placeholder 4">
            <a:extLst>
              <a:ext uri="{FF2B5EF4-FFF2-40B4-BE49-F238E27FC236}">
                <a16:creationId xmlns:a16="http://schemas.microsoft.com/office/drawing/2014/main" id="{DE5E6026-7686-433E-E634-2ECE383B281F}"/>
              </a:ext>
            </a:extLst>
          </p:cNvPr>
          <p:cNvSpPr>
            <a:spLocks noGrp="1"/>
          </p:cNvSpPr>
          <p:nvPr>
            <p:ph type="ftr" sz="quarter" idx="11"/>
          </p:nvPr>
        </p:nvSpPr>
        <p:spPr/>
        <p:txBody>
          <a:bodyPr/>
          <a:lstStyle>
            <a:lvl1pPr>
              <a:defRPr>
                <a:solidFill>
                  <a:schemeClr val="tx1"/>
                </a:solidFill>
              </a:defRPr>
            </a:lvl1pPr>
          </a:lstStyle>
          <a:p>
            <a:pPr>
              <a:defRPr/>
            </a:pPr>
            <a:r>
              <a:rPr lang="en-US"/>
              <a:t>Project Presentation 2023</a:t>
            </a:r>
            <a:endParaRPr lang="en-IN" dirty="0"/>
          </a:p>
        </p:txBody>
      </p:sp>
      <p:sp>
        <p:nvSpPr>
          <p:cNvPr id="7" name="Slide Number Placeholder 5">
            <a:extLst>
              <a:ext uri="{FF2B5EF4-FFF2-40B4-BE49-F238E27FC236}">
                <a16:creationId xmlns:a16="http://schemas.microsoft.com/office/drawing/2014/main" id="{E6D40C81-A730-88EA-8EB2-57BA60128E3B}"/>
              </a:ext>
            </a:extLst>
          </p:cNvPr>
          <p:cNvSpPr>
            <a:spLocks noGrp="1"/>
          </p:cNvSpPr>
          <p:nvPr>
            <p:ph type="sldNum" sz="quarter" idx="12"/>
          </p:nvPr>
        </p:nvSpPr>
        <p:spPr/>
        <p:txBody>
          <a:bodyPr/>
          <a:lstStyle>
            <a:lvl1pPr>
              <a:defRPr>
                <a:solidFill>
                  <a:schemeClr val="tx1"/>
                </a:solidFill>
              </a:defRPr>
            </a:lvl1pPr>
          </a:lstStyle>
          <a:p>
            <a:fld id="{F92EEDBF-8856-48C9-AEED-4FDC54493AE3}" type="slidenum">
              <a:rPr lang="en-IN" altLang="en-US"/>
              <a:pPr/>
              <a:t>‹#›</a:t>
            </a:fld>
            <a:endParaRPr lang="en-IN" altLang="en-US"/>
          </a:p>
        </p:txBody>
      </p:sp>
    </p:spTree>
    <p:extLst>
      <p:ext uri="{BB962C8B-B14F-4D97-AF65-F5344CB8AC3E}">
        <p14:creationId xmlns:p14="http://schemas.microsoft.com/office/powerpoint/2010/main" val="3100248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8">
            <a:extLst>
              <a:ext uri="{FF2B5EF4-FFF2-40B4-BE49-F238E27FC236}">
                <a16:creationId xmlns:a16="http://schemas.microsoft.com/office/drawing/2014/main" id="{AD7DB2CF-6B6C-ABD4-43D7-A8F1566736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48775" y="0"/>
            <a:ext cx="29432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E2417A5A-F639-FFA0-E875-DC4E5D67FFA6}"/>
              </a:ext>
            </a:extLst>
          </p:cNvPr>
          <p:cNvSpPr>
            <a:spLocks noGrp="1"/>
          </p:cNvSpPr>
          <p:nvPr>
            <p:ph type="dt" sz="half" idx="10"/>
          </p:nvPr>
        </p:nvSpPr>
        <p:spPr/>
        <p:txBody>
          <a:bodyPr/>
          <a:lstStyle>
            <a:lvl1pPr>
              <a:defRPr/>
            </a:lvl1pPr>
          </a:lstStyle>
          <a:p>
            <a:pPr>
              <a:defRPr/>
            </a:pPr>
            <a:fld id="{BB13EBEE-2822-4FD7-AE0C-48CEC3633901}" type="datetime1">
              <a:rPr lang="en-IN"/>
              <a:pPr>
                <a:defRPr/>
              </a:pPr>
              <a:t>03-05-2025</a:t>
            </a:fld>
            <a:endParaRPr lang="en-IN"/>
          </a:p>
        </p:txBody>
      </p:sp>
      <p:sp>
        <p:nvSpPr>
          <p:cNvPr id="6" name="Footer Placeholder 4">
            <a:extLst>
              <a:ext uri="{FF2B5EF4-FFF2-40B4-BE49-F238E27FC236}">
                <a16:creationId xmlns:a16="http://schemas.microsoft.com/office/drawing/2014/main" id="{583CBDAE-F2E8-E5BA-DA78-6779B106563E}"/>
              </a:ext>
            </a:extLst>
          </p:cNvPr>
          <p:cNvSpPr>
            <a:spLocks noGrp="1"/>
          </p:cNvSpPr>
          <p:nvPr>
            <p:ph type="ftr" sz="quarter" idx="11"/>
          </p:nvPr>
        </p:nvSpPr>
        <p:spPr/>
        <p:txBody>
          <a:bodyPr/>
          <a:lstStyle>
            <a:lvl1pPr>
              <a:defRPr/>
            </a:lvl1pPr>
          </a:lstStyle>
          <a:p>
            <a:pPr>
              <a:defRPr/>
            </a:pPr>
            <a:r>
              <a:rPr lang="en-IN"/>
              <a:t>Project Presentation 2023</a:t>
            </a:r>
          </a:p>
        </p:txBody>
      </p:sp>
      <p:sp>
        <p:nvSpPr>
          <p:cNvPr id="7" name="Slide Number Placeholder 5">
            <a:extLst>
              <a:ext uri="{FF2B5EF4-FFF2-40B4-BE49-F238E27FC236}">
                <a16:creationId xmlns:a16="http://schemas.microsoft.com/office/drawing/2014/main" id="{1238F024-5F13-23D9-484B-699CE7F2E4C6}"/>
              </a:ext>
            </a:extLst>
          </p:cNvPr>
          <p:cNvSpPr>
            <a:spLocks noGrp="1"/>
          </p:cNvSpPr>
          <p:nvPr>
            <p:ph type="sldNum" sz="quarter" idx="12"/>
          </p:nvPr>
        </p:nvSpPr>
        <p:spPr/>
        <p:txBody>
          <a:bodyPr/>
          <a:lstStyle>
            <a:lvl1pPr>
              <a:defRPr/>
            </a:lvl1pPr>
          </a:lstStyle>
          <a:p>
            <a:fld id="{AC5A9A57-BAC6-4CE8-8799-2F3C63DEBB13}" type="slidenum">
              <a:rPr lang="en-IN" altLang="en-US"/>
              <a:pPr/>
              <a:t>‹#›</a:t>
            </a:fld>
            <a:endParaRPr lang="en-IN" altLang="en-US"/>
          </a:p>
        </p:txBody>
      </p:sp>
    </p:spTree>
    <p:extLst>
      <p:ext uri="{BB962C8B-B14F-4D97-AF65-F5344CB8AC3E}">
        <p14:creationId xmlns:p14="http://schemas.microsoft.com/office/powerpoint/2010/main" val="2743873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8">
            <a:extLst>
              <a:ext uri="{FF2B5EF4-FFF2-40B4-BE49-F238E27FC236}">
                <a16:creationId xmlns:a16="http://schemas.microsoft.com/office/drawing/2014/main" id="{D74C3AA5-849B-8B83-F024-5FB3E17DF8E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48775" y="33338"/>
            <a:ext cx="29432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4">
            <a:extLst>
              <a:ext uri="{FF2B5EF4-FFF2-40B4-BE49-F238E27FC236}">
                <a16:creationId xmlns:a16="http://schemas.microsoft.com/office/drawing/2014/main" id="{BC160A82-7715-6E0B-EAE5-7C866E35DB0B}"/>
              </a:ext>
            </a:extLst>
          </p:cNvPr>
          <p:cNvSpPr>
            <a:spLocks noGrp="1"/>
          </p:cNvSpPr>
          <p:nvPr>
            <p:ph type="dt" sz="half" idx="10"/>
          </p:nvPr>
        </p:nvSpPr>
        <p:spPr/>
        <p:txBody>
          <a:bodyPr/>
          <a:lstStyle>
            <a:lvl1pPr>
              <a:defRPr/>
            </a:lvl1pPr>
          </a:lstStyle>
          <a:p>
            <a:pPr>
              <a:defRPr/>
            </a:pPr>
            <a:fld id="{09950468-AE54-4A51-98F9-BB0C772BC9BB}" type="datetime1">
              <a:rPr lang="en-IN"/>
              <a:pPr>
                <a:defRPr/>
              </a:pPr>
              <a:t>03-05-2025</a:t>
            </a:fld>
            <a:endParaRPr lang="en-IN"/>
          </a:p>
        </p:txBody>
      </p:sp>
      <p:sp>
        <p:nvSpPr>
          <p:cNvPr id="7" name="Footer Placeholder 5">
            <a:extLst>
              <a:ext uri="{FF2B5EF4-FFF2-40B4-BE49-F238E27FC236}">
                <a16:creationId xmlns:a16="http://schemas.microsoft.com/office/drawing/2014/main" id="{50A033B3-254D-4206-82C2-662BB012DF6F}"/>
              </a:ext>
            </a:extLst>
          </p:cNvPr>
          <p:cNvSpPr>
            <a:spLocks noGrp="1"/>
          </p:cNvSpPr>
          <p:nvPr>
            <p:ph type="ftr" sz="quarter" idx="11"/>
          </p:nvPr>
        </p:nvSpPr>
        <p:spPr/>
        <p:txBody>
          <a:bodyPr/>
          <a:lstStyle>
            <a:lvl1pPr>
              <a:defRPr/>
            </a:lvl1pPr>
          </a:lstStyle>
          <a:p>
            <a:pPr>
              <a:defRPr/>
            </a:pPr>
            <a:r>
              <a:rPr lang="en-IN"/>
              <a:t>Project Presentation 2023</a:t>
            </a:r>
          </a:p>
        </p:txBody>
      </p:sp>
      <p:sp>
        <p:nvSpPr>
          <p:cNvPr id="8" name="Slide Number Placeholder 6">
            <a:extLst>
              <a:ext uri="{FF2B5EF4-FFF2-40B4-BE49-F238E27FC236}">
                <a16:creationId xmlns:a16="http://schemas.microsoft.com/office/drawing/2014/main" id="{FDA2500E-91FA-ED72-4303-02277E1F0D80}"/>
              </a:ext>
            </a:extLst>
          </p:cNvPr>
          <p:cNvSpPr>
            <a:spLocks noGrp="1"/>
          </p:cNvSpPr>
          <p:nvPr>
            <p:ph type="sldNum" sz="quarter" idx="12"/>
          </p:nvPr>
        </p:nvSpPr>
        <p:spPr/>
        <p:txBody>
          <a:bodyPr/>
          <a:lstStyle>
            <a:lvl1pPr>
              <a:defRPr/>
            </a:lvl1pPr>
          </a:lstStyle>
          <a:p>
            <a:fld id="{807331D9-9005-43D7-9303-160E3F02181E}" type="slidenum">
              <a:rPr lang="en-IN" altLang="en-US"/>
              <a:pPr/>
              <a:t>‹#›</a:t>
            </a:fld>
            <a:endParaRPr lang="en-IN" altLang="en-US"/>
          </a:p>
        </p:txBody>
      </p:sp>
    </p:spTree>
    <p:extLst>
      <p:ext uri="{BB962C8B-B14F-4D97-AF65-F5344CB8AC3E}">
        <p14:creationId xmlns:p14="http://schemas.microsoft.com/office/powerpoint/2010/main" val="3916762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8">
            <a:extLst>
              <a:ext uri="{FF2B5EF4-FFF2-40B4-BE49-F238E27FC236}">
                <a16:creationId xmlns:a16="http://schemas.microsoft.com/office/drawing/2014/main" id="{441B0824-3BA8-FA6B-002B-9E324F74548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48775" y="0"/>
            <a:ext cx="29432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Date Placeholder 6">
            <a:extLst>
              <a:ext uri="{FF2B5EF4-FFF2-40B4-BE49-F238E27FC236}">
                <a16:creationId xmlns:a16="http://schemas.microsoft.com/office/drawing/2014/main" id="{8E07328D-4D49-CE59-16FD-8CF20BEE12D0}"/>
              </a:ext>
            </a:extLst>
          </p:cNvPr>
          <p:cNvSpPr>
            <a:spLocks noGrp="1"/>
          </p:cNvSpPr>
          <p:nvPr>
            <p:ph type="dt" sz="half" idx="10"/>
          </p:nvPr>
        </p:nvSpPr>
        <p:spPr/>
        <p:txBody>
          <a:bodyPr/>
          <a:lstStyle>
            <a:lvl1pPr>
              <a:defRPr/>
            </a:lvl1pPr>
          </a:lstStyle>
          <a:p>
            <a:pPr>
              <a:defRPr/>
            </a:pPr>
            <a:fld id="{352CB7A4-8A01-413E-83D8-C2FAD5EF3872}" type="datetime1">
              <a:rPr lang="en-IN"/>
              <a:pPr>
                <a:defRPr/>
              </a:pPr>
              <a:t>03-05-2025</a:t>
            </a:fld>
            <a:endParaRPr lang="en-IN"/>
          </a:p>
        </p:txBody>
      </p:sp>
      <p:sp>
        <p:nvSpPr>
          <p:cNvPr id="9" name="Footer Placeholder 7">
            <a:extLst>
              <a:ext uri="{FF2B5EF4-FFF2-40B4-BE49-F238E27FC236}">
                <a16:creationId xmlns:a16="http://schemas.microsoft.com/office/drawing/2014/main" id="{FCEE3F55-9743-33CC-2318-CC8736C5AF82}"/>
              </a:ext>
            </a:extLst>
          </p:cNvPr>
          <p:cNvSpPr>
            <a:spLocks noGrp="1"/>
          </p:cNvSpPr>
          <p:nvPr>
            <p:ph type="ftr" sz="quarter" idx="11"/>
          </p:nvPr>
        </p:nvSpPr>
        <p:spPr/>
        <p:txBody>
          <a:bodyPr/>
          <a:lstStyle>
            <a:lvl1pPr>
              <a:defRPr/>
            </a:lvl1pPr>
          </a:lstStyle>
          <a:p>
            <a:pPr>
              <a:defRPr/>
            </a:pPr>
            <a:r>
              <a:rPr lang="en-IN"/>
              <a:t>Project Presentation 2023</a:t>
            </a:r>
          </a:p>
        </p:txBody>
      </p:sp>
      <p:sp>
        <p:nvSpPr>
          <p:cNvPr id="10" name="Slide Number Placeholder 8">
            <a:extLst>
              <a:ext uri="{FF2B5EF4-FFF2-40B4-BE49-F238E27FC236}">
                <a16:creationId xmlns:a16="http://schemas.microsoft.com/office/drawing/2014/main" id="{F220FF99-4680-C6D5-E43D-31F9E189444D}"/>
              </a:ext>
            </a:extLst>
          </p:cNvPr>
          <p:cNvSpPr>
            <a:spLocks noGrp="1"/>
          </p:cNvSpPr>
          <p:nvPr>
            <p:ph type="sldNum" sz="quarter" idx="12"/>
          </p:nvPr>
        </p:nvSpPr>
        <p:spPr/>
        <p:txBody>
          <a:bodyPr/>
          <a:lstStyle>
            <a:lvl1pPr>
              <a:defRPr/>
            </a:lvl1pPr>
          </a:lstStyle>
          <a:p>
            <a:fld id="{33A23407-B0B2-4DCD-A710-A8A848A1A826}" type="slidenum">
              <a:rPr lang="en-IN" altLang="en-US"/>
              <a:pPr/>
              <a:t>‹#›</a:t>
            </a:fld>
            <a:endParaRPr lang="en-IN" altLang="en-US"/>
          </a:p>
        </p:txBody>
      </p:sp>
    </p:spTree>
    <p:extLst>
      <p:ext uri="{BB962C8B-B14F-4D97-AF65-F5344CB8AC3E}">
        <p14:creationId xmlns:p14="http://schemas.microsoft.com/office/powerpoint/2010/main" val="3821558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96A2C43F-495C-4E8D-BB94-4D0272FEF1B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48775" y="112713"/>
            <a:ext cx="29432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IN"/>
          </a:p>
        </p:txBody>
      </p:sp>
      <p:sp>
        <p:nvSpPr>
          <p:cNvPr id="4" name="Date Placeholder 2">
            <a:extLst>
              <a:ext uri="{FF2B5EF4-FFF2-40B4-BE49-F238E27FC236}">
                <a16:creationId xmlns:a16="http://schemas.microsoft.com/office/drawing/2014/main" id="{F327293A-CB82-CDBF-78F5-32EF19E27B4F}"/>
              </a:ext>
            </a:extLst>
          </p:cNvPr>
          <p:cNvSpPr>
            <a:spLocks noGrp="1"/>
          </p:cNvSpPr>
          <p:nvPr>
            <p:ph type="dt" sz="half" idx="10"/>
          </p:nvPr>
        </p:nvSpPr>
        <p:spPr/>
        <p:txBody>
          <a:bodyPr/>
          <a:lstStyle>
            <a:lvl1pPr>
              <a:defRPr/>
            </a:lvl1pPr>
          </a:lstStyle>
          <a:p>
            <a:pPr>
              <a:defRPr/>
            </a:pPr>
            <a:fld id="{DDA91020-AB2D-4B55-8C71-D470AA35C348}" type="datetime1">
              <a:rPr lang="en-IN"/>
              <a:pPr>
                <a:defRPr/>
              </a:pPr>
              <a:t>03-05-2025</a:t>
            </a:fld>
            <a:endParaRPr lang="en-IN"/>
          </a:p>
        </p:txBody>
      </p:sp>
      <p:sp>
        <p:nvSpPr>
          <p:cNvPr id="5" name="Footer Placeholder 3">
            <a:extLst>
              <a:ext uri="{FF2B5EF4-FFF2-40B4-BE49-F238E27FC236}">
                <a16:creationId xmlns:a16="http://schemas.microsoft.com/office/drawing/2014/main" id="{E24CA78B-FA0C-3DFE-8B9A-2F668F555F06}"/>
              </a:ext>
            </a:extLst>
          </p:cNvPr>
          <p:cNvSpPr>
            <a:spLocks noGrp="1"/>
          </p:cNvSpPr>
          <p:nvPr>
            <p:ph type="ftr" sz="quarter" idx="11"/>
          </p:nvPr>
        </p:nvSpPr>
        <p:spPr/>
        <p:txBody>
          <a:bodyPr/>
          <a:lstStyle>
            <a:lvl1pPr>
              <a:defRPr/>
            </a:lvl1pPr>
          </a:lstStyle>
          <a:p>
            <a:pPr>
              <a:defRPr/>
            </a:pPr>
            <a:r>
              <a:rPr lang="en-IN"/>
              <a:t>Project Presentation 2023</a:t>
            </a:r>
          </a:p>
        </p:txBody>
      </p:sp>
      <p:sp>
        <p:nvSpPr>
          <p:cNvPr id="6" name="Slide Number Placeholder 4">
            <a:extLst>
              <a:ext uri="{FF2B5EF4-FFF2-40B4-BE49-F238E27FC236}">
                <a16:creationId xmlns:a16="http://schemas.microsoft.com/office/drawing/2014/main" id="{08014232-78C5-885B-1C12-D1EB11CB9A85}"/>
              </a:ext>
            </a:extLst>
          </p:cNvPr>
          <p:cNvSpPr>
            <a:spLocks noGrp="1"/>
          </p:cNvSpPr>
          <p:nvPr>
            <p:ph type="sldNum" sz="quarter" idx="12"/>
          </p:nvPr>
        </p:nvSpPr>
        <p:spPr/>
        <p:txBody>
          <a:bodyPr/>
          <a:lstStyle>
            <a:lvl1pPr>
              <a:defRPr/>
            </a:lvl1pPr>
          </a:lstStyle>
          <a:p>
            <a:fld id="{1109DA4A-112D-42F3-AE24-78F2146B8CF5}" type="slidenum">
              <a:rPr lang="en-IN" altLang="en-US"/>
              <a:pPr/>
              <a:t>‹#›</a:t>
            </a:fld>
            <a:endParaRPr lang="en-IN" altLang="en-US"/>
          </a:p>
        </p:txBody>
      </p:sp>
    </p:spTree>
    <p:extLst>
      <p:ext uri="{BB962C8B-B14F-4D97-AF65-F5344CB8AC3E}">
        <p14:creationId xmlns:p14="http://schemas.microsoft.com/office/powerpoint/2010/main" val="1345548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94FC2C11-D2CC-787D-B865-3A990910626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48775" y="0"/>
            <a:ext cx="29432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1">
            <a:extLst>
              <a:ext uri="{FF2B5EF4-FFF2-40B4-BE49-F238E27FC236}">
                <a16:creationId xmlns:a16="http://schemas.microsoft.com/office/drawing/2014/main" id="{50842915-ABF8-15C3-6072-475BD86FDD53}"/>
              </a:ext>
            </a:extLst>
          </p:cNvPr>
          <p:cNvSpPr>
            <a:spLocks noGrp="1"/>
          </p:cNvSpPr>
          <p:nvPr>
            <p:ph type="dt" sz="half" idx="10"/>
          </p:nvPr>
        </p:nvSpPr>
        <p:spPr/>
        <p:txBody>
          <a:bodyPr/>
          <a:lstStyle>
            <a:lvl1pPr>
              <a:defRPr/>
            </a:lvl1pPr>
          </a:lstStyle>
          <a:p>
            <a:pPr>
              <a:defRPr/>
            </a:pPr>
            <a:fld id="{ED3FD5C5-DCE0-4EF3-AE80-5DCC444AF893}" type="datetime1">
              <a:rPr lang="en-IN"/>
              <a:pPr>
                <a:defRPr/>
              </a:pPr>
              <a:t>03-05-2025</a:t>
            </a:fld>
            <a:endParaRPr lang="en-IN"/>
          </a:p>
        </p:txBody>
      </p:sp>
      <p:sp>
        <p:nvSpPr>
          <p:cNvPr id="4" name="Footer Placeholder 2">
            <a:extLst>
              <a:ext uri="{FF2B5EF4-FFF2-40B4-BE49-F238E27FC236}">
                <a16:creationId xmlns:a16="http://schemas.microsoft.com/office/drawing/2014/main" id="{989460B8-ED4C-C469-6D34-CC803B1BF471}"/>
              </a:ext>
            </a:extLst>
          </p:cNvPr>
          <p:cNvSpPr>
            <a:spLocks noGrp="1"/>
          </p:cNvSpPr>
          <p:nvPr>
            <p:ph type="ftr" sz="quarter" idx="11"/>
          </p:nvPr>
        </p:nvSpPr>
        <p:spPr/>
        <p:txBody>
          <a:bodyPr/>
          <a:lstStyle>
            <a:lvl1pPr>
              <a:defRPr/>
            </a:lvl1pPr>
          </a:lstStyle>
          <a:p>
            <a:pPr>
              <a:defRPr/>
            </a:pPr>
            <a:r>
              <a:rPr lang="en-IN"/>
              <a:t>Project Presentation 2023</a:t>
            </a:r>
          </a:p>
        </p:txBody>
      </p:sp>
      <p:sp>
        <p:nvSpPr>
          <p:cNvPr id="5" name="Slide Number Placeholder 3">
            <a:extLst>
              <a:ext uri="{FF2B5EF4-FFF2-40B4-BE49-F238E27FC236}">
                <a16:creationId xmlns:a16="http://schemas.microsoft.com/office/drawing/2014/main" id="{722D498D-E111-7F39-692E-970133E068AC}"/>
              </a:ext>
            </a:extLst>
          </p:cNvPr>
          <p:cNvSpPr>
            <a:spLocks noGrp="1"/>
          </p:cNvSpPr>
          <p:nvPr>
            <p:ph type="sldNum" sz="quarter" idx="12"/>
          </p:nvPr>
        </p:nvSpPr>
        <p:spPr/>
        <p:txBody>
          <a:bodyPr/>
          <a:lstStyle>
            <a:lvl1pPr>
              <a:defRPr/>
            </a:lvl1pPr>
          </a:lstStyle>
          <a:p>
            <a:fld id="{64763936-74FF-4F65-9CEA-5993938D5F62}" type="slidenum">
              <a:rPr lang="en-IN" altLang="en-US"/>
              <a:pPr/>
              <a:t>‹#›</a:t>
            </a:fld>
            <a:endParaRPr lang="en-IN" altLang="en-US"/>
          </a:p>
        </p:txBody>
      </p:sp>
    </p:spTree>
    <p:extLst>
      <p:ext uri="{BB962C8B-B14F-4D97-AF65-F5344CB8AC3E}">
        <p14:creationId xmlns:p14="http://schemas.microsoft.com/office/powerpoint/2010/main" val="2244331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5" name="Picture 8">
            <a:extLst>
              <a:ext uri="{FF2B5EF4-FFF2-40B4-BE49-F238E27FC236}">
                <a16:creationId xmlns:a16="http://schemas.microsoft.com/office/drawing/2014/main" id="{14AF04BF-D6E5-368C-6660-35D0A368F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48775" y="34925"/>
            <a:ext cx="29432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Date Placeholder 4">
            <a:extLst>
              <a:ext uri="{FF2B5EF4-FFF2-40B4-BE49-F238E27FC236}">
                <a16:creationId xmlns:a16="http://schemas.microsoft.com/office/drawing/2014/main" id="{32668C54-752A-66BD-D9B6-FD9734AB0E0F}"/>
              </a:ext>
            </a:extLst>
          </p:cNvPr>
          <p:cNvSpPr>
            <a:spLocks noGrp="1"/>
          </p:cNvSpPr>
          <p:nvPr>
            <p:ph type="dt" sz="half" idx="10"/>
          </p:nvPr>
        </p:nvSpPr>
        <p:spPr/>
        <p:txBody>
          <a:bodyPr/>
          <a:lstStyle>
            <a:lvl1pPr>
              <a:defRPr/>
            </a:lvl1pPr>
          </a:lstStyle>
          <a:p>
            <a:pPr>
              <a:defRPr/>
            </a:pPr>
            <a:fld id="{E76E34BD-E190-43B9-90E8-FED10FB482BB}" type="datetime1">
              <a:rPr lang="en-IN"/>
              <a:pPr>
                <a:defRPr/>
              </a:pPr>
              <a:t>03-05-2025</a:t>
            </a:fld>
            <a:endParaRPr lang="en-IN"/>
          </a:p>
        </p:txBody>
      </p:sp>
      <p:sp>
        <p:nvSpPr>
          <p:cNvPr id="7" name="Footer Placeholder 5">
            <a:extLst>
              <a:ext uri="{FF2B5EF4-FFF2-40B4-BE49-F238E27FC236}">
                <a16:creationId xmlns:a16="http://schemas.microsoft.com/office/drawing/2014/main" id="{6D373C46-35F6-0B20-61D4-B0131AA2B153}"/>
              </a:ext>
            </a:extLst>
          </p:cNvPr>
          <p:cNvSpPr>
            <a:spLocks noGrp="1"/>
          </p:cNvSpPr>
          <p:nvPr>
            <p:ph type="ftr" sz="quarter" idx="11"/>
          </p:nvPr>
        </p:nvSpPr>
        <p:spPr/>
        <p:txBody>
          <a:bodyPr/>
          <a:lstStyle>
            <a:lvl1pPr>
              <a:defRPr/>
            </a:lvl1pPr>
          </a:lstStyle>
          <a:p>
            <a:pPr>
              <a:defRPr/>
            </a:pPr>
            <a:r>
              <a:rPr lang="en-IN"/>
              <a:t>Project Presentation 2023</a:t>
            </a:r>
          </a:p>
        </p:txBody>
      </p:sp>
      <p:sp>
        <p:nvSpPr>
          <p:cNvPr id="8" name="Slide Number Placeholder 6">
            <a:extLst>
              <a:ext uri="{FF2B5EF4-FFF2-40B4-BE49-F238E27FC236}">
                <a16:creationId xmlns:a16="http://schemas.microsoft.com/office/drawing/2014/main" id="{EB6F2D7E-6930-8D95-A192-23E59D7B2577}"/>
              </a:ext>
            </a:extLst>
          </p:cNvPr>
          <p:cNvSpPr>
            <a:spLocks noGrp="1"/>
          </p:cNvSpPr>
          <p:nvPr>
            <p:ph type="sldNum" sz="quarter" idx="12"/>
          </p:nvPr>
        </p:nvSpPr>
        <p:spPr/>
        <p:txBody>
          <a:bodyPr/>
          <a:lstStyle>
            <a:lvl1pPr>
              <a:defRPr/>
            </a:lvl1pPr>
          </a:lstStyle>
          <a:p>
            <a:fld id="{ECFA4040-D835-4E44-A986-AB03A54146D8}" type="slidenum">
              <a:rPr lang="en-IN" altLang="en-US"/>
              <a:pPr/>
              <a:t>‹#›</a:t>
            </a:fld>
            <a:endParaRPr lang="en-IN" altLang="en-US"/>
          </a:p>
        </p:txBody>
      </p:sp>
    </p:spTree>
    <p:extLst>
      <p:ext uri="{BB962C8B-B14F-4D97-AF65-F5344CB8AC3E}">
        <p14:creationId xmlns:p14="http://schemas.microsoft.com/office/powerpoint/2010/main" val="4180634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8">
            <a:extLst>
              <a:ext uri="{FF2B5EF4-FFF2-40B4-BE49-F238E27FC236}">
                <a16:creationId xmlns:a16="http://schemas.microsoft.com/office/drawing/2014/main" id="{62E53EAB-8EF1-21E5-A07F-1635FE1CD63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48775" y="0"/>
            <a:ext cx="29432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Date Placeholder 4">
            <a:extLst>
              <a:ext uri="{FF2B5EF4-FFF2-40B4-BE49-F238E27FC236}">
                <a16:creationId xmlns:a16="http://schemas.microsoft.com/office/drawing/2014/main" id="{613A2DFC-2453-2B44-0BC5-E7441AAA8226}"/>
              </a:ext>
            </a:extLst>
          </p:cNvPr>
          <p:cNvSpPr>
            <a:spLocks noGrp="1"/>
          </p:cNvSpPr>
          <p:nvPr>
            <p:ph type="dt" sz="half" idx="10"/>
          </p:nvPr>
        </p:nvSpPr>
        <p:spPr/>
        <p:txBody>
          <a:bodyPr/>
          <a:lstStyle>
            <a:lvl1pPr>
              <a:defRPr/>
            </a:lvl1pPr>
          </a:lstStyle>
          <a:p>
            <a:pPr>
              <a:defRPr/>
            </a:pPr>
            <a:fld id="{7DA50F9C-850E-447D-8832-24B185F77AAF}" type="datetime1">
              <a:rPr lang="en-IN"/>
              <a:pPr>
                <a:defRPr/>
              </a:pPr>
              <a:t>03-05-2025</a:t>
            </a:fld>
            <a:endParaRPr lang="en-IN"/>
          </a:p>
        </p:txBody>
      </p:sp>
      <p:sp>
        <p:nvSpPr>
          <p:cNvPr id="7" name="Footer Placeholder 5">
            <a:extLst>
              <a:ext uri="{FF2B5EF4-FFF2-40B4-BE49-F238E27FC236}">
                <a16:creationId xmlns:a16="http://schemas.microsoft.com/office/drawing/2014/main" id="{F43A8AE7-68E9-5E78-E9AE-52378082B009}"/>
              </a:ext>
            </a:extLst>
          </p:cNvPr>
          <p:cNvSpPr>
            <a:spLocks noGrp="1"/>
          </p:cNvSpPr>
          <p:nvPr>
            <p:ph type="ftr" sz="quarter" idx="11"/>
          </p:nvPr>
        </p:nvSpPr>
        <p:spPr/>
        <p:txBody>
          <a:bodyPr/>
          <a:lstStyle>
            <a:lvl1pPr>
              <a:defRPr/>
            </a:lvl1pPr>
          </a:lstStyle>
          <a:p>
            <a:pPr>
              <a:defRPr/>
            </a:pPr>
            <a:r>
              <a:rPr lang="en-IN"/>
              <a:t>Project Presentation 2023</a:t>
            </a:r>
          </a:p>
        </p:txBody>
      </p:sp>
      <p:sp>
        <p:nvSpPr>
          <p:cNvPr id="8" name="Slide Number Placeholder 6">
            <a:extLst>
              <a:ext uri="{FF2B5EF4-FFF2-40B4-BE49-F238E27FC236}">
                <a16:creationId xmlns:a16="http://schemas.microsoft.com/office/drawing/2014/main" id="{EA3E666E-949E-E636-60DB-29287B58FD04}"/>
              </a:ext>
            </a:extLst>
          </p:cNvPr>
          <p:cNvSpPr>
            <a:spLocks noGrp="1"/>
          </p:cNvSpPr>
          <p:nvPr>
            <p:ph type="sldNum" sz="quarter" idx="12"/>
          </p:nvPr>
        </p:nvSpPr>
        <p:spPr/>
        <p:txBody>
          <a:bodyPr/>
          <a:lstStyle>
            <a:lvl1pPr>
              <a:defRPr/>
            </a:lvl1pPr>
          </a:lstStyle>
          <a:p>
            <a:fld id="{B546ED33-A583-4272-A24E-671650C6CD09}" type="slidenum">
              <a:rPr lang="en-IN" altLang="en-US"/>
              <a:pPr/>
              <a:t>‹#›</a:t>
            </a:fld>
            <a:endParaRPr lang="en-IN" altLang="en-US"/>
          </a:p>
        </p:txBody>
      </p:sp>
    </p:spTree>
    <p:extLst>
      <p:ext uri="{BB962C8B-B14F-4D97-AF65-F5344CB8AC3E}">
        <p14:creationId xmlns:p14="http://schemas.microsoft.com/office/powerpoint/2010/main" val="2277925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D14EE0-3F5A-3B43-6323-73E2D7A10ED8}"/>
              </a:ext>
            </a:extLst>
          </p:cNvPr>
          <p:cNvSpPr>
            <a:spLocks noGrp="1"/>
          </p:cNvSpPr>
          <p:nvPr>
            <p:ph type="dt" sz="half" idx="10"/>
          </p:nvPr>
        </p:nvSpPr>
        <p:spPr/>
        <p:txBody>
          <a:bodyPr/>
          <a:lstStyle>
            <a:lvl1pPr>
              <a:defRPr/>
            </a:lvl1pPr>
          </a:lstStyle>
          <a:p>
            <a:pPr>
              <a:defRPr/>
            </a:pPr>
            <a:fld id="{FBEF9095-CFB8-4920-8909-18548A2F1D28}" type="datetime1">
              <a:rPr lang="en-IN"/>
              <a:pPr>
                <a:defRPr/>
              </a:pPr>
              <a:t>03-05-2025</a:t>
            </a:fld>
            <a:endParaRPr lang="en-IN"/>
          </a:p>
        </p:txBody>
      </p:sp>
      <p:sp>
        <p:nvSpPr>
          <p:cNvPr id="5" name="Footer Placeholder 4">
            <a:extLst>
              <a:ext uri="{FF2B5EF4-FFF2-40B4-BE49-F238E27FC236}">
                <a16:creationId xmlns:a16="http://schemas.microsoft.com/office/drawing/2014/main" id="{37F21FFA-D8B2-D661-84E9-3FD48B9D8F5D}"/>
              </a:ext>
            </a:extLst>
          </p:cNvPr>
          <p:cNvSpPr>
            <a:spLocks noGrp="1"/>
          </p:cNvSpPr>
          <p:nvPr>
            <p:ph type="ftr" sz="quarter" idx="11"/>
          </p:nvPr>
        </p:nvSpPr>
        <p:spPr/>
        <p:txBody>
          <a:bodyPr/>
          <a:lstStyle>
            <a:lvl1pPr>
              <a:defRPr/>
            </a:lvl1pPr>
          </a:lstStyle>
          <a:p>
            <a:pPr>
              <a:defRPr/>
            </a:pPr>
            <a:r>
              <a:rPr lang="en-IN"/>
              <a:t>Project Presentation 2023</a:t>
            </a:r>
          </a:p>
        </p:txBody>
      </p:sp>
      <p:sp>
        <p:nvSpPr>
          <p:cNvPr id="6" name="Slide Number Placeholder 5">
            <a:extLst>
              <a:ext uri="{FF2B5EF4-FFF2-40B4-BE49-F238E27FC236}">
                <a16:creationId xmlns:a16="http://schemas.microsoft.com/office/drawing/2014/main" id="{605E1BFD-FC27-14A4-666F-CBE07B24F6B0}"/>
              </a:ext>
            </a:extLst>
          </p:cNvPr>
          <p:cNvSpPr>
            <a:spLocks noGrp="1"/>
          </p:cNvSpPr>
          <p:nvPr>
            <p:ph type="sldNum" sz="quarter" idx="12"/>
          </p:nvPr>
        </p:nvSpPr>
        <p:spPr/>
        <p:txBody>
          <a:bodyPr/>
          <a:lstStyle>
            <a:lvl1pPr>
              <a:defRPr/>
            </a:lvl1pPr>
          </a:lstStyle>
          <a:p>
            <a:fld id="{D64142BF-1BCF-4CFC-87BE-87DF8D325DC8}" type="slidenum">
              <a:rPr lang="en-IN" altLang="en-US"/>
              <a:pPr/>
              <a:t>‹#›</a:t>
            </a:fld>
            <a:endParaRPr lang="en-IN" altLang="en-US"/>
          </a:p>
        </p:txBody>
      </p:sp>
    </p:spTree>
    <p:extLst>
      <p:ext uri="{BB962C8B-B14F-4D97-AF65-F5344CB8AC3E}">
        <p14:creationId xmlns:p14="http://schemas.microsoft.com/office/powerpoint/2010/main" val="2924329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2CECCC-30F1-40D7-17A3-2EEB9A1D4B04}"/>
              </a:ext>
            </a:extLst>
          </p:cNvPr>
          <p:cNvSpPr>
            <a:spLocks noGrp="1"/>
          </p:cNvSpPr>
          <p:nvPr>
            <p:ph type="dt" sz="half" idx="10"/>
          </p:nvPr>
        </p:nvSpPr>
        <p:spPr/>
        <p:txBody>
          <a:bodyPr/>
          <a:lstStyle>
            <a:lvl1pPr>
              <a:defRPr/>
            </a:lvl1pPr>
          </a:lstStyle>
          <a:p>
            <a:pPr>
              <a:defRPr/>
            </a:pPr>
            <a:fld id="{88366B15-7211-42C7-A865-20501A61EC33}" type="datetime1">
              <a:rPr lang="en-IN"/>
              <a:pPr>
                <a:defRPr/>
              </a:pPr>
              <a:t>03-05-2025</a:t>
            </a:fld>
            <a:endParaRPr lang="en-IN"/>
          </a:p>
        </p:txBody>
      </p:sp>
      <p:sp>
        <p:nvSpPr>
          <p:cNvPr id="5" name="Footer Placeholder 4">
            <a:extLst>
              <a:ext uri="{FF2B5EF4-FFF2-40B4-BE49-F238E27FC236}">
                <a16:creationId xmlns:a16="http://schemas.microsoft.com/office/drawing/2014/main" id="{EB66E5F4-E4E4-3D1B-4A86-A8CFA8FB63CC}"/>
              </a:ext>
            </a:extLst>
          </p:cNvPr>
          <p:cNvSpPr>
            <a:spLocks noGrp="1"/>
          </p:cNvSpPr>
          <p:nvPr>
            <p:ph type="ftr" sz="quarter" idx="11"/>
          </p:nvPr>
        </p:nvSpPr>
        <p:spPr/>
        <p:txBody>
          <a:bodyPr/>
          <a:lstStyle>
            <a:lvl1pPr>
              <a:defRPr/>
            </a:lvl1pPr>
          </a:lstStyle>
          <a:p>
            <a:pPr>
              <a:defRPr/>
            </a:pPr>
            <a:r>
              <a:rPr lang="en-IN"/>
              <a:t>Project Presentation 2023</a:t>
            </a:r>
          </a:p>
        </p:txBody>
      </p:sp>
      <p:sp>
        <p:nvSpPr>
          <p:cNvPr id="6" name="Slide Number Placeholder 5">
            <a:extLst>
              <a:ext uri="{FF2B5EF4-FFF2-40B4-BE49-F238E27FC236}">
                <a16:creationId xmlns:a16="http://schemas.microsoft.com/office/drawing/2014/main" id="{9978AE74-B721-9C1F-289F-680F34AECE73}"/>
              </a:ext>
            </a:extLst>
          </p:cNvPr>
          <p:cNvSpPr>
            <a:spLocks noGrp="1"/>
          </p:cNvSpPr>
          <p:nvPr>
            <p:ph type="sldNum" sz="quarter" idx="12"/>
          </p:nvPr>
        </p:nvSpPr>
        <p:spPr/>
        <p:txBody>
          <a:bodyPr/>
          <a:lstStyle>
            <a:lvl1pPr>
              <a:defRPr/>
            </a:lvl1pPr>
          </a:lstStyle>
          <a:p>
            <a:fld id="{6700D173-014D-47EF-8C51-8FFB2ED35FF1}" type="slidenum">
              <a:rPr lang="en-IN" altLang="en-US"/>
              <a:pPr/>
              <a:t>‹#›</a:t>
            </a:fld>
            <a:endParaRPr lang="en-IN" altLang="en-US"/>
          </a:p>
        </p:txBody>
      </p:sp>
    </p:spTree>
    <p:extLst>
      <p:ext uri="{BB962C8B-B14F-4D97-AF65-F5344CB8AC3E}">
        <p14:creationId xmlns:p14="http://schemas.microsoft.com/office/powerpoint/2010/main" val="1184207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25F2C7D-7A02-CEA6-9D7F-7077129130FC}"/>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71F5BE8B-8721-7FC4-584C-18E41150669F}"/>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11F1CB8F-7781-CA82-777C-5BA38C617A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6803643A-7D98-40A6-BDCC-7725D8C9F6E7}" type="datetime1">
              <a:rPr lang="en-IN"/>
              <a:pPr>
                <a:defRPr/>
              </a:pPr>
              <a:t>03-05-2025</a:t>
            </a:fld>
            <a:endParaRPr lang="en-IN"/>
          </a:p>
        </p:txBody>
      </p:sp>
      <p:sp>
        <p:nvSpPr>
          <p:cNvPr id="5" name="Footer Placeholder 4">
            <a:extLst>
              <a:ext uri="{FF2B5EF4-FFF2-40B4-BE49-F238E27FC236}">
                <a16:creationId xmlns:a16="http://schemas.microsoft.com/office/drawing/2014/main" id="{4835BA16-B426-F4D9-E2C6-11750BA3E9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IN"/>
              <a:t>Project Presentation 2023</a:t>
            </a:r>
          </a:p>
        </p:txBody>
      </p:sp>
      <p:sp>
        <p:nvSpPr>
          <p:cNvPr id="6" name="Slide Number Placeholder 5">
            <a:extLst>
              <a:ext uri="{FF2B5EF4-FFF2-40B4-BE49-F238E27FC236}">
                <a16:creationId xmlns:a16="http://schemas.microsoft.com/office/drawing/2014/main" id="{4DD17E85-82B6-FC90-47E8-151B1D25CCDC}"/>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4B8D2068-1727-413F-8DE7-909C06C6117A}" type="slidenum">
              <a:rPr lang="en-IN" altLang="en-US"/>
              <a:pPr/>
              <a:t>‹#›</a:t>
            </a:fld>
            <a:endParaRPr lang="en-IN" altLang="en-US"/>
          </a:p>
        </p:txBody>
      </p:sp>
      <p:pic>
        <p:nvPicPr>
          <p:cNvPr id="1031" name="Picture 7">
            <a:extLst>
              <a:ext uri="{FF2B5EF4-FFF2-40B4-BE49-F238E27FC236}">
                <a16:creationId xmlns:a16="http://schemas.microsoft.com/office/drawing/2014/main" id="{EA5E24BE-3AE8-5D88-3F1B-3279505375ED}"/>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9248775" y="0"/>
            <a:ext cx="29432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8"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69" r:id="rId10"/>
    <p:sldLayoutId id="2147483670" r:id="rId11"/>
  </p:sldLayoutIdLst>
  <p:hf hdr="0"/>
  <p:txStyles>
    <p:titleStyle>
      <a:lvl1pPr algn="l" rtl="0" fontAlgn="base">
        <a:lnSpc>
          <a:spcPct val="90000"/>
        </a:lnSpc>
        <a:spcBef>
          <a:spcPct val="0"/>
        </a:spcBef>
        <a:spcAft>
          <a:spcPct val="0"/>
        </a:spcAft>
        <a:defRPr sz="4400" b="1" kern="1200">
          <a:solidFill>
            <a:schemeClr val="tx1"/>
          </a:solidFill>
          <a:latin typeface="+mj-lt"/>
          <a:ea typeface="+mj-ea"/>
          <a:cs typeface="+mj-cs"/>
        </a:defRPr>
      </a:lvl1pPr>
      <a:lvl2pPr algn="l" rtl="0" fontAlgn="base">
        <a:lnSpc>
          <a:spcPct val="90000"/>
        </a:lnSpc>
        <a:spcBef>
          <a:spcPct val="0"/>
        </a:spcBef>
        <a:spcAft>
          <a:spcPct val="0"/>
        </a:spcAft>
        <a:defRPr sz="4400" b="1">
          <a:solidFill>
            <a:schemeClr val="tx1"/>
          </a:solidFill>
          <a:latin typeface="Calibri Light" panose="020F0302020204030204" pitchFamily="34" charset="0"/>
        </a:defRPr>
      </a:lvl2pPr>
      <a:lvl3pPr algn="l" rtl="0" fontAlgn="base">
        <a:lnSpc>
          <a:spcPct val="90000"/>
        </a:lnSpc>
        <a:spcBef>
          <a:spcPct val="0"/>
        </a:spcBef>
        <a:spcAft>
          <a:spcPct val="0"/>
        </a:spcAft>
        <a:defRPr sz="4400" b="1">
          <a:solidFill>
            <a:schemeClr val="tx1"/>
          </a:solidFill>
          <a:latin typeface="Calibri Light" panose="020F0302020204030204" pitchFamily="34" charset="0"/>
        </a:defRPr>
      </a:lvl3pPr>
      <a:lvl4pPr algn="l" rtl="0" fontAlgn="base">
        <a:lnSpc>
          <a:spcPct val="90000"/>
        </a:lnSpc>
        <a:spcBef>
          <a:spcPct val="0"/>
        </a:spcBef>
        <a:spcAft>
          <a:spcPct val="0"/>
        </a:spcAft>
        <a:defRPr sz="4400" b="1">
          <a:solidFill>
            <a:schemeClr val="tx1"/>
          </a:solidFill>
          <a:latin typeface="Calibri Light" panose="020F0302020204030204" pitchFamily="34" charset="0"/>
        </a:defRPr>
      </a:lvl4pPr>
      <a:lvl5pPr algn="l" rtl="0" fontAlgn="base">
        <a:lnSpc>
          <a:spcPct val="90000"/>
        </a:lnSpc>
        <a:spcBef>
          <a:spcPct val="0"/>
        </a:spcBef>
        <a:spcAft>
          <a:spcPct val="0"/>
        </a:spcAft>
        <a:defRPr sz="4400" b="1">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b="1">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b="1">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b="1">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b="1">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36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32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8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47B548E9-6B8C-C692-0621-88133288DDBF}"/>
              </a:ext>
            </a:extLst>
          </p:cNvPr>
          <p:cNvSpPr>
            <a:spLocks noGrp="1"/>
          </p:cNvSpPr>
          <p:nvPr>
            <p:ph type="ctrTitle"/>
          </p:nvPr>
        </p:nvSpPr>
        <p:spPr>
          <a:xfrm>
            <a:off x="1841500" y="1557338"/>
            <a:ext cx="9144000" cy="992187"/>
          </a:xfrm>
        </p:spPr>
        <p:txBody>
          <a:bodyPr/>
          <a:lstStyle/>
          <a:p>
            <a:r>
              <a:rPr lang="en-US" altLang="en-US" dirty="0">
                <a:cs typeface="Calibri Light"/>
              </a:rPr>
              <a:t>Efficient Detection of Eye Diseases using ML and DL</a:t>
            </a:r>
          </a:p>
        </p:txBody>
      </p:sp>
      <p:sp>
        <p:nvSpPr>
          <p:cNvPr id="3" name="Subtitle 2">
            <a:extLst>
              <a:ext uri="{FF2B5EF4-FFF2-40B4-BE49-F238E27FC236}">
                <a16:creationId xmlns:a16="http://schemas.microsoft.com/office/drawing/2014/main" id="{DDBF6114-1355-BBB1-9BB9-1DA6654474CF}"/>
              </a:ext>
            </a:extLst>
          </p:cNvPr>
          <p:cNvSpPr>
            <a:spLocks noGrp="1"/>
          </p:cNvSpPr>
          <p:nvPr>
            <p:ph type="subTitle" idx="1"/>
          </p:nvPr>
        </p:nvSpPr>
        <p:spPr>
          <a:xfrm>
            <a:off x="396875" y="3429000"/>
            <a:ext cx="5659438" cy="2066925"/>
          </a:xfrm>
        </p:spPr>
        <p:txBody>
          <a:bodyPr rtlCol="0">
            <a:normAutofit/>
          </a:bodyPr>
          <a:lstStyle/>
          <a:p>
            <a:pPr fontAlgn="auto">
              <a:spcAft>
                <a:spcPts val="0"/>
              </a:spcAft>
              <a:defRPr/>
            </a:pPr>
            <a:r>
              <a:rPr lang="en-US" b="1" u="sng" dirty="0"/>
              <a:t>Presented By: </a:t>
            </a:r>
          </a:p>
          <a:p>
            <a:pPr fontAlgn="auto">
              <a:spcAft>
                <a:spcPts val="0"/>
              </a:spcAft>
              <a:defRPr/>
            </a:pPr>
            <a:r>
              <a:rPr lang="en-US" dirty="0"/>
              <a:t>Meegada Raghu Nandhan (200303124359)</a:t>
            </a:r>
            <a:endParaRPr lang="en-US" dirty="0">
              <a:cs typeface="Calibri"/>
            </a:endParaRPr>
          </a:p>
          <a:p>
            <a:pPr fontAlgn="auto">
              <a:spcAft>
                <a:spcPts val="0"/>
              </a:spcAft>
              <a:defRPr/>
            </a:pPr>
            <a:endParaRPr lang="en-US" dirty="0"/>
          </a:p>
          <a:p>
            <a:pPr fontAlgn="auto">
              <a:spcAft>
                <a:spcPts val="0"/>
              </a:spcAft>
              <a:defRPr/>
            </a:pPr>
            <a:endParaRPr lang="en-IN" dirty="0"/>
          </a:p>
          <a:p>
            <a:pPr fontAlgn="auto">
              <a:spcAft>
                <a:spcPts val="0"/>
              </a:spcAft>
              <a:defRPr/>
            </a:pPr>
            <a:endParaRPr lang="en-IN" dirty="0"/>
          </a:p>
        </p:txBody>
      </p:sp>
      <p:sp>
        <p:nvSpPr>
          <p:cNvPr id="6" name="Subtitle 2">
            <a:extLst>
              <a:ext uri="{FF2B5EF4-FFF2-40B4-BE49-F238E27FC236}">
                <a16:creationId xmlns:a16="http://schemas.microsoft.com/office/drawing/2014/main" id="{A876819A-9D43-59BD-2CF3-85AA2CA1FACD}"/>
              </a:ext>
            </a:extLst>
          </p:cNvPr>
          <p:cNvSpPr txBox="1">
            <a:spLocks/>
          </p:cNvSpPr>
          <p:nvPr/>
        </p:nvSpPr>
        <p:spPr>
          <a:xfrm>
            <a:off x="6878638" y="3378200"/>
            <a:ext cx="4916487" cy="2168525"/>
          </a:xfrm>
          <a:prstGeom prst="rect">
            <a:avLst/>
          </a:prstGeom>
        </p:spPr>
        <p:txBody>
          <a:bodyPr lIns="91440" tIns="45720" rIns="91440" bIns="45720" anchor="t">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lnSpc>
                <a:spcPct val="110000"/>
              </a:lnSpc>
              <a:spcAft>
                <a:spcPts val="0"/>
              </a:spcAft>
              <a:defRPr/>
            </a:pPr>
            <a:r>
              <a:rPr lang="en-US" sz="9600" b="1" u="sng" dirty="0"/>
              <a:t>Guided By:</a:t>
            </a:r>
          </a:p>
          <a:p>
            <a:pPr fontAlgn="auto">
              <a:lnSpc>
                <a:spcPct val="110000"/>
              </a:lnSpc>
              <a:spcAft>
                <a:spcPts val="0"/>
              </a:spcAft>
              <a:defRPr/>
            </a:pPr>
            <a:r>
              <a:rPr lang="en-US" sz="9600" dirty="0">
                <a:cs typeface="Calibri"/>
              </a:rPr>
              <a:t>Charmi Purohit</a:t>
            </a:r>
            <a:endParaRPr lang="en-US" sz="9600" dirty="0"/>
          </a:p>
          <a:p>
            <a:pPr fontAlgn="auto">
              <a:lnSpc>
                <a:spcPct val="110000"/>
              </a:lnSpc>
              <a:spcAft>
                <a:spcPts val="0"/>
              </a:spcAft>
              <a:defRPr/>
            </a:pPr>
            <a:r>
              <a:rPr lang="en-US" sz="9600" dirty="0"/>
              <a:t>Assistant professor</a:t>
            </a:r>
          </a:p>
          <a:p>
            <a:pPr fontAlgn="auto">
              <a:lnSpc>
                <a:spcPct val="110000"/>
              </a:lnSpc>
              <a:spcAft>
                <a:spcPts val="0"/>
              </a:spcAft>
              <a:defRPr/>
            </a:pPr>
            <a:r>
              <a:rPr lang="en-US" sz="9600" dirty="0"/>
              <a:t>CSE Department</a:t>
            </a:r>
          </a:p>
          <a:p>
            <a:pPr fontAlgn="auto">
              <a:lnSpc>
                <a:spcPct val="110000"/>
              </a:lnSpc>
              <a:spcAft>
                <a:spcPts val="0"/>
              </a:spcAft>
              <a:defRPr/>
            </a:pPr>
            <a:r>
              <a:rPr lang="en-US" sz="9600" dirty="0"/>
              <a:t>PIET, Parul University</a:t>
            </a:r>
          </a:p>
          <a:p>
            <a:pPr fontAlgn="auto">
              <a:lnSpc>
                <a:spcPct val="110000"/>
              </a:lnSpc>
              <a:spcAft>
                <a:spcPts val="0"/>
              </a:spcAft>
              <a:defRPr/>
            </a:pPr>
            <a:r>
              <a:rPr lang="en-US" sz="9600" dirty="0"/>
              <a:t> </a:t>
            </a:r>
          </a:p>
          <a:p>
            <a:pPr fontAlgn="auto">
              <a:spcAft>
                <a:spcPts val="0"/>
              </a:spcAft>
              <a:defRPr/>
            </a:pPr>
            <a:endParaRPr lang="en-US" dirty="0"/>
          </a:p>
          <a:p>
            <a:pPr fontAlgn="auto">
              <a:spcAft>
                <a:spcPts val="0"/>
              </a:spcAft>
              <a:defRPr/>
            </a:pPr>
            <a:endParaRPr lang="en-IN" dirty="0"/>
          </a:p>
          <a:p>
            <a:pPr fontAlgn="auto">
              <a:spcAft>
                <a:spcPts val="0"/>
              </a:spcAft>
              <a:defRPr/>
            </a:pP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6649C027-4F10-BD6B-B662-10369543C85A}"/>
              </a:ext>
            </a:extLst>
          </p:cNvPr>
          <p:cNvSpPr>
            <a:spLocks noGrp="1"/>
          </p:cNvSpPr>
          <p:nvPr>
            <p:ph type="title"/>
          </p:nvPr>
        </p:nvSpPr>
        <p:spPr/>
        <p:txBody>
          <a:bodyPr/>
          <a:lstStyle/>
          <a:p>
            <a:r>
              <a:rPr lang="en-IN" altLang="en-US" dirty="0"/>
              <a:t>Index</a:t>
            </a:r>
          </a:p>
        </p:txBody>
      </p:sp>
      <p:sp>
        <p:nvSpPr>
          <p:cNvPr id="3" name="Content Placeholder 2">
            <a:extLst>
              <a:ext uri="{FF2B5EF4-FFF2-40B4-BE49-F238E27FC236}">
                <a16:creationId xmlns:a16="http://schemas.microsoft.com/office/drawing/2014/main" id="{D1C0BD6B-E8DB-430E-5903-4B25965016B9}"/>
              </a:ext>
            </a:extLst>
          </p:cNvPr>
          <p:cNvSpPr>
            <a:spLocks noGrp="1"/>
          </p:cNvSpPr>
          <p:nvPr>
            <p:ph idx="1"/>
          </p:nvPr>
        </p:nvSpPr>
        <p:spPr>
          <a:xfrm>
            <a:off x="838200" y="1511300"/>
            <a:ext cx="10515600" cy="4665663"/>
          </a:xfrm>
        </p:spPr>
        <p:txBody>
          <a:bodyPr rtlCol="0">
            <a:normAutofit fontScale="85000" lnSpcReduction="20000"/>
          </a:bodyPr>
          <a:lstStyle/>
          <a:p>
            <a:pPr fontAlgn="auto">
              <a:spcAft>
                <a:spcPts val="0"/>
              </a:spcAft>
              <a:defRPr/>
            </a:pPr>
            <a:r>
              <a:rPr lang="en-IN" dirty="0"/>
              <a:t>Acknowledgements</a:t>
            </a:r>
          </a:p>
          <a:p>
            <a:pPr fontAlgn="auto">
              <a:spcAft>
                <a:spcPts val="0"/>
              </a:spcAft>
              <a:defRPr/>
            </a:pPr>
            <a:r>
              <a:rPr lang="en-IN" dirty="0"/>
              <a:t>Abstract</a:t>
            </a:r>
            <a:endParaRPr lang="en-US" dirty="0"/>
          </a:p>
          <a:p>
            <a:pPr fontAlgn="auto">
              <a:spcAft>
                <a:spcPts val="0"/>
              </a:spcAft>
              <a:defRPr/>
            </a:pPr>
            <a:r>
              <a:rPr lang="en-US" dirty="0"/>
              <a:t>Introduction</a:t>
            </a:r>
          </a:p>
          <a:p>
            <a:pPr fontAlgn="auto">
              <a:spcAft>
                <a:spcPts val="0"/>
              </a:spcAft>
              <a:defRPr/>
            </a:pPr>
            <a:r>
              <a:rPr lang="en-US" dirty="0"/>
              <a:t>Problem Statement</a:t>
            </a:r>
          </a:p>
          <a:p>
            <a:pPr fontAlgn="auto">
              <a:spcAft>
                <a:spcPts val="0"/>
              </a:spcAft>
              <a:defRPr/>
            </a:pPr>
            <a:r>
              <a:rPr lang="en-IN" b="0" i="0" dirty="0">
                <a:solidFill>
                  <a:srgbClr val="222222"/>
                </a:solidFill>
                <a:effectLst/>
                <a:latin typeface="Arial" panose="020B0604020202020204" pitchFamily="34" charset="0"/>
              </a:rPr>
              <a:t>Literature Study</a:t>
            </a:r>
          </a:p>
          <a:p>
            <a:pPr fontAlgn="auto">
              <a:spcAft>
                <a:spcPts val="0"/>
              </a:spcAft>
              <a:defRPr/>
            </a:pPr>
            <a:r>
              <a:rPr lang="en-IN" b="0" i="0" dirty="0">
                <a:solidFill>
                  <a:srgbClr val="222222"/>
                </a:solidFill>
                <a:effectLst/>
                <a:latin typeface="Arial" panose="020B0604020202020204" pitchFamily="34" charset="0"/>
              </a:rPr>
              <a:t> Methodology</a:t>
            </a:r>
            <a:endParaRPr lang="en-US" dirty="0"/>
          </a:p>
          <a:p>
            <a:pPr fontAlgn="auto">
              <a:spcAft>
                <a:spcPts val="0"/>
              </a:spcAft>
              <a:defRPr/>
            </a:pPr>
            <a:r>
              <a:rPr lang="en-US" dirty="0"/>
              <a:t>Implementation Details</a:t>
            </a:r>
          </a:p>
          <a:p>
            <a:pPr fontAlgn="auto">
              <a:spcAft>
                <a:spcPts val="0"/>
              </a:spcAft>
              <a:defRPr/>
            </a:pPr>
            <a:r>
              <a:rPr lang="en-US" dirty="0"/>
              <a:t>Conclusion</a:t>
            </a:r>
          </a:p>
          <a:p>
            <a:pPr fontAlgn="auto">
              <a:spcAft>
                <a:spcPts val="0"/>
              </a:spcAft>
              <a:defRPr/>
            </a:pPr>
            <a:r>
              <a:rPr lang="en-US" dirty="0"/>
              <a:t>Future Work</a:t>
            </a:r>
          </a:p>
          <a:p>
            <a:pPr fontAlgn="auto">
              <a:spcAft>
                <a:spcPts val="0"/>
              </a:spcAft>
              <a:defRPr/>
            </a:pPr>
            <a:r>
              <a:rPr lang="en-US" dirty="0"/>
              <a:t>References</a:t>
            </a:r>
            <a:endParaRPr lang="en-IN" dirty="0"/>
          </a:p>
        </p:txBody>
      </p:sp>
      <p:sp>
        <p:nvSpPr>
          <p:cNvPr id="11268" name="Date Placeholder 3">
            <a:extLst>
              <a:ext uri="{FF2B5EF4-FFF2-40B4-BE49-F238E27FC236}">
                <a16:creationId xmlns:a16="http://schemas.microsoft.com/office/drawing/2014/main" id="{C6B144AD-9987-1470-781F-3707C33504D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21554B1B-6D0D-49F4-BE71-57E13FC4F46F}" type="datetime1">
              <a:rPr lang="en-IN" altLang="en-US"/>
              <a:pPr fontAlgn="base">
                <a:spcBef>
                  <a:spcPct val="0"/>
                </a:spcBef>
                <a:spcAft>
                  <a:spcPct val="0"/>
                </a:spcAft>
              </a:pPr>
              <a:t>03-05-2025</a:t>
            </a:fld>
            <a:endParaRPr lang="en-IN" altLang="en-US"/>
          </a:p>
        </p:txBody>
      </p:sp>
      <p:sp>
        <p:nvSpPr>
          <p:cNvPr id="11269" name="Footer Placeholder 4">
            <a:extLst>
              <a:ext uri="{FF2B5EF4-FFF2-40B4-BE49-F238E27FC236}">
                <a16:creationId xmlns:a16="http://schemas.microsoft.com/office/drawing/2014/main" id="{7F536B9F-BE9A-D329-675A-6F79D7C095E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Project Presentation 2023</a:t>
            </a:r>
            <a:endParaRPr lang="en-IN" altLang="en-US"/>
          </a:p>
        </p:txBody>
      </p:sp>
      <p:sp>
        <p:nvSpPr>
          <p:cNvPr id="11270" name="Slide Number Placeholder 5">
            <a:extLst>
              <a:ext uri="{FF2B5EF4-FFF2-40B4-BE49-F238E27FC236}">
                <a16:creationId xmlns:a16="http://schemas.microsoft.com/office/drawing/2014/main" id="{EEB356ED-7E4F-2DBA-312E-FBB84B9DB9D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14E3C22-AE36-4A5B-BD20-9CA0CB65F33C}" type="slidenum">
              <a:rPr lang="en-IN" altLang="en-US"/>
              <a:pPr/>
              <a:t>2</a:t>
            </a:fld>
            <a:endParaRPr lang="en-I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D56FE-E96D-D194-C55B-BEF7FB20B6B3}"/>
              </a:ext>
            </a:extLst>
          </p:cNvPr>
          <p:cNvSpPr>
            <a:spLocks noGrp="1"/>
          </p:cNvSpPr>
          <p:nvPr>
            <p:ph type="title"/>
          </p:nvPr>
        </p:nvSpPr>
        <p:spPr/>
        <p:txBody>
          <a:bodyPr/>
          <a:lstStyle/>
          <a:p>
            <a:r>
              <a:rPr lang="en-IN" dirty="0"/>
              <a:t>Acknowledgements</a:t>
            </a:r>
            <a:br>
              <a:rPr lang="en-IN" dirty="0"/>
            </a:br>
            <a:endParaRPr lang="en-IN" dirty="0"/>
          </a:p>
        </p:txBody>
      </p:sp>
      <p:sp>
        <p:nvSpPr>
          <p:cNvPr id="3" name="Content Placeholder 2">
            <a:extLst>
              <a:ext uri="{FF2B5EF4-FFF2-40B4-BE49-F238E27FC236}">
                <a16:creationId xmlns:a16="http://schemas.microsoft.com/office/drawing/2014/main" id="{83131601-0118-E02E-D378-F5FA8F37A1D2}"/>
              </a:ext>
            </a:extLst>
          </p:cNvPr>
          <p:cNvSpPr>
            <a:spLocks noGrp="1"/>
          </p:cNvSpPr>
          <p:nvPr>
            <p:ph idx="1"/>
          </p:nvPr>
        </p:nvSpPr>
        <p:spPr/>
        <p:txBody>
          <a:bodyPr/>
          <a:lstStyle/>
          <a:p>
            <a:r>
              <a:rPr lang="en-US" sz="2800" dirty="0"/>
              <a:t>I would like to express my sincere gratitude to </a:t>
            </a:r>
            <a:r>
              <a:rPr lang="en-US" sz="2800" dirty="0" err="1"/>
              <a:t>parul</a:t>
            </a:r>
            <a:r>
              <a:rPr lang="en-US" sz="2800" dirty="0"/>
              <a:t> university for providing me with the opportunity to pursue my academic goals. I would also like to extend my heartfelt appreciation to my prof. Asst. Prof. </a:t>
            </a:r>
            <a:r>
              <a:rPr lang="en-US" sz="2800" dirty="0" err="1"/>
              <a:t>Charmi</a:t>
            </a:r>
            <a:r>
              <a:rPr lang="en-US" sz="2800" dirty="0"/>
              <a:t> Purohit for their guidance, support, and valuable insights thought the project. I would like to thank my family and friends for their unwavering support and encouragement, which has helped me stay focused and motivated during the project. Lastly, I would like to acknowledge the contributions of ASMP, without whom this project would not have been possible. Once again, I am grateful to all those who have contributed to the successful completion of this project.</a:t>
            </a:r>
            <a:endParaRPr lang="en-IN" sz="2800" dirty="0"/>
          </a:p>
        </p:txBody>
      </p:sp>
      <p:sp>
        <p:nvSpPr>
          <p:cNvPr id="4" name="Date Placeholder 3">
            <a:extLst>
              <a:ext uri="{FF2B5EF4-FFF2-40B4-BE49-F238E27FC236}">
                <a16:creationId xmlns:a16="http://schemas.microsoft.com/office/drawing/2014/main" id="{B287021C-B9A2-5B62-742A-3E9062459A80}"/>
              </a:ext>
            </a:extLst>
          </p:cNvPr>
          <p:cNvSpPr>
            <a:spLocks noGrp="1"/>
          </p:cNvSpPr>
          <p:nvPr>
            <p:ph type="dt" sz="half" idx="10"/>
          </p:nvPr>
        </p:nvSpPr>
        <p:spPr/>
        <p:txBody>
          <a:bodyPr/>
          <a:lstStyle/>
          <a:p>
            <a:pPr>
              <a:defRPr/>
            </a:pPr>
            <a:fld id="{48A3CD4E-5194-45F6-B9C3-47A7606E5BA7}" type="datetime1">
              <a:rPr lang="en-IN" smtClean="0"/>
              <a:pPr>
                <a:defRPr/>
              </a:pPr>
              <a:t>03-05-2025</a:t>
            </a:fld>
            <a:endParaRPr lang="en-IN" dirty="0"/>
          </a:p>
        </p:txBody>
      </p:sp>
      <p:sp>
        <p:nvSpPr>
          <p:cNvPr id="5" name="Footer Placeholder 4">
            <a:extLst>
              <a:ext uri="{FF2B5EF4-FFF2-40B4-BE49-F238E27FC236}">
                <a16:creationId xmlns:a16="http://schemas.microsoft.com/office/drawing/2014/main" id="{C91F6668-6F80-574D-F711-80B74ED519D2}"/>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6023609D-8005-7CCD-7420-D2AF35522F70}"/>
              </a:ext>
            </a:extLst>
          </p:cNvPr>
          <p:cNvSpPr>
            <a:spLocks noGrp="1"/>
          </p:cNvSpPr>
          <p:nvPr>
            <p:ph type="sldNum" sz="quarter" idx="12"/>
          </p:nvPr>
        </p:nvSpPr>
        <p:spPr/>
        <p:txBody>
          <a:bodyPr/>
          <a:lstStyle/>
          <a:p>
            <a:fld id="{F92EEDBF-8856-48C9-AEED-4FDC54493AE3}" type="slidenum">
              <a:rPr lang="en-IN" altLang="en-US" smtClean="0"/>
              <a:pPr/>
              <a:t>3</a:t>
            </a:fld>
            <a:endParaRPr lang="en-IN" altLang="en-US"/>
          </a:p>
        </p:txBody>
      </p:sp>
    </p:spTree>
    <p:extLst>
      <p:ext uri="{BB962C8B-B14F-4D97-AF65-F5344CB8AC3E}">
        <p14:creationId xmlns:p14="http://schemas.microsoft.com/office/powerpoint/2010/main" val="2644794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6E46-0AAE-CF4C-9E37-D4DC96B99E5D}"/>
              </a:ext>
            </a:extLst>
          </p:cNvPr>
          <p:cNvSpPr>
            <a:spLocks noGrp="1"/>
          </p:cNvSpPr>
          <p:nvPr>
            <p:ph type="title"/>
          </p:nvPr>
        </p:nvSpPr>
        <p:spPr/>
        <p:txBody>
          <a:bodyPr/>
          <a:lstStyle/>
          <a:p>
            <a:r>
              <a:rPr lang="en-IN" dirty="0"/>
              <a:t>Abstract</a:t>
            </a:r>
            <a:br>
              <a:rPr lang="en-US" dirty="0"/>
            </a:br>
            <a:endParaRPr lang="en-IN" dirty="0"/>
          </a:p>
        </p:txBody>
      </p:sp>
      <p:sp>
        <p:nvSpPr>
          <p:cNvPr id="3" name="Content Placeholder 2">
            <a:extLst>
              <a:ext uri="{FF2B5EF4-FFF2-40B4-BE49-F238E27FC236}">
                <a16:creationId xmlns:a16="http://schemas.microsoft.com/office/drawing/2014/main" id="{44FA6831-AF87-763A-A7F9-E68C395D087B}"/>
              </a:ext>
            </a:extLst>
          </p:cNvPr>
          <p:cNvSpPr>
            <a:spLocks noGrp="1"/>
          </p:cNvSpPr>
          <p:nvPr>
            <p:ph idx="1"/>
          </p:nvPr>
        </p:nvSpPr>
        <p:spPr>
          <a:xfrm>
            <a:off x="838200" y="1360449"/>
            <a:ext cx="10515600" cy="4816514"/>
          </a:xfrm>
        </p:spPr>
        <p:txBody>
          <a:bodyPr/>
          <a:lstStyle/>
          <a:p>
            <a:pPr algn="l"/>
            <a:r>
              <a:rPr lang="en-US" sz="2400" b="0" i="0" dirty="0">
                <a:solidFill>
                  <a:srgbClr val="374151"/>
                </a:solidFill>
                <a:effectLst/>
                <a:latin typeface="Söhne"/>
              </a:rPr>
              <a:t>Our project focuses on early detection of eye diseases like glaucoma, cataracts, and diabetic retinopathy to prevent vision loss. We use machine learning (ML) and deep learning (DL) to automatically detect and classify these diseases in retinal images.</a:t>
            </a:r>
          </a:p>
          <a:p>
            <a:pPr algn="l"/>
            <a:r>
              <a:rPr lang="en-US" sz="2400" b="0" i="0" dirty="0">
                <a:solidFill>
                  <a:srgbClr val="374151"/>
                </a:solidFill>
                <a:effectLst/>
                <a:latin typeface="Söhne"/>
              </a:rPr>
              <a:t>Our system includes three stages: pre-processing, feature extraction using convolutional neural networks (CNNs), and classification with ML and DL algorithms (SVM, RF, DNN). Rigorous testing on a dataset with various eye diseases shows our method outperforms current approaches in accuracy, sensitivity, and specificity.</a:t>
            </a:r>
          </a:p>
          <a:p>
            <a:pPr algn="l"/>
            <a:r>
              <a:rPr lang="en-US" sz="2400" b="0" i="0" dirty="0">
                <a:solidFill>
                  <a:srgbClr val="374151"/>
                </a:solidFill>
                <a:effectLst/>
                <a:latin typeface="Söhne"/>
              </a:rPr>
              <a:t>Our primary goal is efficient ML and DL-based detection of Diabetic Retinopathy, Glaucoma, Cataracts, and Retinal diseases, all of which can cause vision loss or blindness. We aim to make a meaningful contribution to improving the well-being of affected individuals worldwide.</a:t>
            </a:r>
          </a:p>
          <a:p>
            <a:endParaRPr lang="en-IN" dirty="0"/>
          </a:p>
        </p:txBody>
      </p:sp>
      <p:sp>
        <p:nvSpPr>
          <p:cNvPr id="4" name="Date Placeholder 3">
            <a:extLst>
              <a:ext uri="{FF2B5EF4-FFF2-40B4-BE49-F238E27FC236}">
                <a16:creationId xmlns:a16="http://schemas.microsoft.com/office/drawing/2014/main" id="{7EA1496F-CF08-1D91-5B6E-DA9D68401A3D}"/>
              </a:ext>
            </a:extLst>
          </p:cNvPr>
          <p:cNvSpPr>
            <a:spLocks noGrp="1"/>
          </p:cNvSpPr>
          <p:nvPr>
            <p:ph type="dt" sz="half" idx="10"/>
          </p:nvPr>
        </p:nvSpPr>
        <p:spPr/>
        <p:txBody>
          <a:bodyPr/>
          <a:lstStyle/>
          <a:p>
            <a:pPr>
              <a:defRPr/>
            </a:pPr>
            <a:fld id="{48A3CD4E-5194-45F6-B9C3-47A7606E5BA7}" type="datetime1">
              <a:rPr lang="en-IN" smtClean="0"/>
              <a:pPr>
                <a:defRPr/>
              </a:pPr>
              <a:t>03-05-2025</a:t>
            </a:fld>
            <a:endParaRPr lang="en-IN" dirty="0"/>
          </a:p>
        </p:txBody>
      </p:sp>
      <p:sp>
        <p:nvSpPr>
          <p:cNvPr id="5" name="Footer Placeholder 4">
            <a:extLst>
              <a:ext uri="{FF2B5EF4-FFF2-40B4-BE49-F238E27FC236}">
                <a16:creationId xmlns:a16="http://schemas.microsoft.com/office/drawing/2014/main" id="{757D2646-849F-CF62-74C8-A7877619CD43}"/>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62FF4962-D3AB-E0E9-4541-F68C5718348C}"/>
              </a:ext>
            </a:extLst>
          </p:cNvPr>
          <p:cNvSpPr>
            <a:spLocks noGrp="1"/>
          </p:cNvSpPr>
          <p:nvPr>
            <p:ph type="sldNum" sz="quarter" idx="12"/>
          </p:nvPr>
        </p:nvSpPr>
        <p:spPr/>
        <p:txBody>
          <a:bodyPr/>
          <a:lstStyle/>
          <a:p>
            <a:fld id="{F92EEDBF-8856-48C9-AEED-4FDC54493AE3}" type="slidenum">
              <a:rPr lang="en-IN" altLang="en-US" smtClean="0"/>
              <a:pPr/>
              <a:t>4</a:t>
            </a:fld>
            <a:endParaRPr lang="en-IN" altLang="en-US"/>
          </a:p>
        </p:txBody>
      </p:sp>
    </p:spTree>
    <p:extLst>
      <p:ext uri="{BB962C8B-B14F-4D97-AF65-F5344CB8AC3E}">
        <p14:creationId xmlns:p14="http://schemas.microsoft.com/office/powerpoint/2010/main" val="2710345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6C10EF1A-B8E5-3624-6F19-070A9C054BE2}"/>
              </a:ext>
            </a:extLst>
          </p:cNvPr>
          <p:cNvSpPr>
            <a:spLocks noGrp="1"/>
          </p:cNvSpPr>
          <p:nvPr>
            <p:ph type="title"/>
          </p:nvPr>
        </p:nvSpPr>
        <p:spPr/>
        <p:txBody>
          <a:bodyPr/>
          <a:lstStyle/>
          <a:p>
            <a:r>
              <a:rPr lang="en-US" altLang="en-US"/>
              <a:t>Problem Statement</a:t>
            </a:r>
            <a:endParaRPr lang="en-IN" altLang="en-US"/>
          </a:p>
        </p:txBody>
      </p:sp>
      <p:sp>
        <p:nvSpPr>
          <p:cNvPr id="13315" name="Content Placeholder 2">
            <a:extLst>
              <a:ext uri="{FF2B5EF4-FFF2-40B4-BE49-F238E27FC236}">
                <a16:creationId xmlns:a16="http://schemas.microsoft.com/office/drawing/2014/main" id="{A144DD28-2440-04E7-6A75-A5B94B18C72E}"/>
              </a:ext>
            </a:extLst>
          </p:cNvPr>
          <p:cNvSpPr>
            <a:spLocks noGrp="1"/>
          </p:cNvSpPr>
          <p:nvPr>
            <p:ph idx="1"/>
          </p:nvPr>
        </p:nvSpPr>
        <p:spPr/>
        <p:txBody>
          <a:bodyPr/>
          <a:lstStyle/>
          <a:p>
            <a:r>
              <a:rPr lang="en-IN" sz="3200" dirty="0">
                <a:cs typeface="Calibri"/>
              </a:rPr>
              <a:t>.</a:t>
            </a:r>
          </a:p>
          <a:p>
            <a:endParaRPr lang="en-IN" altLang="en-US" dirty="0">
              <a:cs typeface="Calibri"/>
            </a:endParaRPr>
          </a:p>
        </p:txBody>
      </p:sp>
      <p:sp>
        <p:nvSpPr>
          <p:cNvPr id="13316" name="Date Placeholder 3">
            <a:extLst>
              <a:ext uri="{FF2B5EF4-FFF2-40B4-BE49-F238E27FC236}">
                <a16:creationId xmlns:a16="http://schemas.microsoft.com/office/drawing/2014/main" id="{CE8881B8-F1D9-8764-8313-B33C02F7D904}"/>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5945A9F-2741-415C-9520-9E6BE0A9AD9E}" type="datetime1">
              <a:rPr lang="en-IN" altLang="en-US"/>
              <a:pPr fontAlgn="base">
                <a:spcBef>
                  <a:spcPct val="0"/>
                </a:spcBef>
                <a:spcAft>
                  <a:spcPct val="0"/>
                </a:spcAft>
              </a:pPr>
              <a:t>03-05-2025</a:t>
            </a:fld>
            <a:endParaRPr lang="en-IN" altLang="en-US"/>
          </a:p>
        </p:txBody>
      </p:sp>
      <p:sp>
        <p:nvSpPr>
          <p:cNvPr id="13317" name="Footer Placeholder 4">
            <a:extLst>
              <a:ext uri="{FF2B5EF4-FFF2-40B4-BE49-F238E27FC236}">
                <a16:creationId xmlns:a16="http://schemas.microsoft.com/office/drawing/2014/main" id="{4BC084E9-D4E3-C148-D40A-8BA804D826C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Project Presentation 2023</a:t>
            </a:r>
            <a:endParaRPr lang="en-IN" altLang="en-US"/>
          </a:p>
        </p:txBody>
      </p:sp>
      <p:sp>
        <p:nvSpPr>
          <p:cNvPr id="13318" name="Slide Number Placeholder 5">
            <a:extLst>
              <a:ext uri="{FF2B5EF4-FFF2-40B4-BE49-F238E27FC236}">
                <a16:creationId xmlns:a16="http://schemas.microsoft.com/office/drawing/2014/main" id="{E4D67749-8309-A4C4-DF5B-96D9710CF8B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A3A57686-4F9E-4440-965C-7249797B3884}" type="slidenum">
              <a:rPr lang="en-IN" altLang="en-US"/>
              <a:pPr/>
              <a:t>5</a:t>
            </a:fld>
            <a:endParaRPr lang="en-IN" altLang="en-US"/>
          </a:p>
        </p:txBody>
      </p:sp>
      <p:sp>
        <p:nvSpPr>
          <p:cNvPr id="3" name="TextBox 2">
            <a:extLst>
              <a:ext uri="{FF2B5EF4-FFF2-40B4-BE49-F238E27FC236}">
                <a16:creationId xmlns:a16="http://schemas.microsoft.com/office/drawing/2014/main" id="{9B6A632C-F766-B20A-ABE9-D0A4D87E2315}"/>
              </a:ext>
            </a:extLst>
          </p:cNvPr>
          <p:cNvSpPr txBox="1"/>
          <p:nvPr/>
        </p:nvSpPr>
        <p:spPr>
          <a:xfrm>
            <a:off x="514814" y="1586185"/>
            <a:ext cx="10838986" cy="3785652"/>
          </a:xfrm>
          <a:prstGeom prst="rect">
            <a:avLst/>
          </a:prstGeom>
          <a:noFill/>
        </p:spPr>
        <p:txBody>
          <a:bodyPr wrap="square">
            <a:spAutoFit/>
          </a:bodyPr>
          <a:lstStyle/>
          <a:p>
            <a:r>
              <a:rPr lang="en-US" sz="2400" b="0" i="0" dirty="0">
                <a:solidFill>
                  <a:srgbClr val="374151"/>
                </a:solidFill>
                <a:effectLst/>
                <a:latin typeface="Söhne"/>
              </a:rPr>
              <a:t>In the realm of ophthalmology, there exists a critical need to enhance the efficiency of eye disease detection, with a particular focus on ailments like </a:t>
            </a:r>
            <a:r>
              <a:rPr lang="en-US" sz="2400" b="0" i="0" dirty="0" err="1">
                <a:solidFill>
                  <a:srgbClr val="374151"/>
                </a:solidFill>
                <a:effectLst/>
                <a:latin typeface="Söhne"/>
              </a:rPr>
              <a:t>Acrima</a:t>
            </a:r>
            <a:r>
              <a:rPr lang="en-US" sz="2400" b="0" i="0" dirty="0">
                <a:solidFill>
                  <a:srgbClr val="374151"/>
                </a:solidFill>
                <a:effectLst/>
                <a:latin typeface="Söhne"/>
              </a:rPr>
              <a:t>, Glaucoma, Odir-5K, </a:t>
            </a:r>
            <a:r>
              <a:rPr lang="en-US" sz="2400" b="0" i="0" dirty="0" err="1">
                <a:solidFill>
                  <a:srgbClr val="374151"/>
                </a:solidFill>
                <a:effectLst/>
                <a:latin typeface="Söhne"/>
              </a:rPr>
              <a:t>Origa</a:t>
            </a:r>
            <a:r>
              <a:rPr lang="en-US" sz="2400" b="0" i="0" dirty="0">
                <a:solidFill>
                  <a:srgbClr val="374151"/>
                </a:solidFill>
                <a:effectLst/>
                <a:latin typeface="Söhne"/>
              </a:rPr>
              <a:t>, Cataract, and Retina disease, which can lead to vision impairment and even blindness. The existing challenge revolves around the precise identification and classification of these conditions based on medical imagery. Our project leverages the power of Machine Learning (ML) and Deep Learning (DL) to create a robust system capable of early and accurate detection of these eye diseases. Through meticulous dataset preprocessing, advanced feature extraction, and intensive training, our objective is to achieve a level of accuracy that significantly improves patient care and healthcare outcomes within the field of ophthalmology.</a:t>
            </a:r>
            <a:endParaRPr lang="en-I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44384506-48F8-294D-1DCC-3FBFA29505E6}"/>
              </a:ext>
            </a:extLst>
          </p:cNvPr>
          <p:cNvSpPr>
            <a:spLocks noGrp="1"/>
          </p:cNvSpPr>
          <p:nvPr>
            <p:ph type="title"/>
          </p:nvPr>
        </p:nvSpPr>
        <p:spPr/>
        <p:txBody>
          <a:bodyPr/>
          <a:lstStyle/>
          <a:p>
            <a:r>
              <a:rPr lang="en-US" altLang="en-US" dirty="0"/>
              <a:t>Introduction</a:t>
            </a:r>
            <a:endParaRPr lang="en-IN" altLang="en-US" dirty="0"/>
          </a:p>
        </p:txBody>
      </p:sp>
      <p:sp>
        <p:nvSpPr>
          <p:cNvPr id="12291" name="Content Placeholder 2">
            <a:extLst>
              <a:ext uri="{FF2B5EF4-FFF2-40B4-BE49-F238E27FC236}">
                <a16:creationId xmlns:a16="http://schemas.microsoft.com/office/drawing/2014/main" id="{3F2AA7F5-6E07-D176-6623-63700A012954}"/>
              </a:ext>
            </a:extLst>
          </p:cNvPr>
          <p:cNvSpPr>
            <a:spLocks noGrp="1"/>
          </p:cNvSpPr>
          <p:nvPr>
            <p:ph idx="1"/>
          </p:nvPr>
        </p:nvSpPr>
        <p:spPr/>
        <p:txBody>
          <a:bodyPr/>
          <a:lstStyle/>
          <a:p>
            <a:r>
              <a:rPr lang="en-IN" altLang="en-US" sz="2800" dirty="0">
                <a:cs typeface="Calibri"/>
              </a:rPr>
              <a:t>The human eye is a complex and vital organ that plays an essential role in our daily lives.</a:t>
            </a:r>
          </a:p>
          <a:p>
            <a:r>
              <a:rPr lang="en-IN" altLang="en-US" sz="2800" dirty="0">
                <a:cs typeface="Calibri"/>
              </a:rPr>
              <a:t>However, various eye diseases such as glaucoma, cataracts, and diabetic Tripathy can cause vision loss or even blindness, affecting the quality of life of millions of people worldwide.</a:t>
            </a:r>
          </a:p>
          <a:p>
            <a:r>
              <a:rPr lang="en-IN" altLang="en-US" sz="2800" dirty="0">
                <a:cs typeface="Calibri"/>
              </a:rPr>
              <a:t>It is estimated that approximately 600 million people will have diabetes by 2040, with one-third expected to have diabetic retinopathy (DR) - the leading cause of vision loss in working-age adults worldwide. </a:t>
            </a:r>
            <a:endParaRPr lang="en-IN" sz="2800" dirty="0">
              <a:cs typeface="Calibri"/>
            </a:endParaRPr>
          </a:p>
          <a:p>
            <a:endParaRPr lang="en-IN" altLang="en-US" sz="2800" dirty="0">
              <a:cs typeface="Calibri"/>
            </a:endParaRPr>
          </a:p>
        </p:txBody>
      </p:sp>
      <p:sp>
        <p:nvSpPr>
          <p:cNvPr id="12292" name="Date Placeholder 3">
            <a:extLst>
              <a:ext uri="{FF2B5EF4-FFF2-40B4-BE49-F238E27FC236}">
                <a16:creationId xmlns:a16="http://schemas.microsoft.com/office/drawing/2014/main" id="{C86D9BC4-C2D8-22FE-28F7-C622674ED4A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DD8D2F2A-E1FA-430D-A591-DA8BA7D04F7B}" type="datetime1">
              <a:rPr lang="en-IN" altLang="en-US"/>
              <a:pPr fontAlgn="base">
                <a:spcBef>
                  <a:spcPct val="0"/>
                </a:spcBef>
                <a:spcAft>
                  <a:spcPct val="0"/>
                </a:spcAft>
              </a:pPr>
              <a:t>03-05-2025</a:t>
            </a:fld>
            <a:endParaRPr lang="en-IN" altLang="en-US"/>
          </a:p>
        </p:txBody>
      </p:sp>
      <p:sp>
        <p:nvSpPr>
          <p:cNvPr id="12293" name="Footer Placeholder 4">
            <a:extLst>
              <a:ext uri="{FF2B5EF4-FFF2-40B4-BE49-F238E27FC236}">
                <a16:creationId xmlns:a16="http://schemas.microsoft.com/office/drawing/2014/main" id="{CE3B3759-60C1-189A-2613-8E6091D6EE8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dirty="0"/>
              <a:t>Project Presentation 2023</a:t>
            </a:r>
            <a:endParaRPr lang="en-IN" altLang="en-US" dirty="0"/>
          </a:p>
        </p:txBody>
      </p:sp>
      <p:sp>
        <p:nvSpPr>
          <p:cNvPr id="12294" name="Slide Number Placeholder 5">
            <a:extLst>
              <a:ext uri="{FF2B5EF4-FFF2-40B4-BE49-F238E27FC236}">
                <a16:creationId xmlns:a16="http://schemas.microsoft.com/office/drawing/2014/main" id="{0268827D-ACDC-2C26-5E92-F5237150D4A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19BADA3C-A429-4E38-83A7-B653716EDA89}" type="slidenum">
              <a:rPr lang="en-IN" altLang="en-US" dirty="0"/>
              <a:pPr/>
              <a:t>6</a:t>
            </a:fld>
            <a:endParaRPr lang="en-I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B6F43-2CBE-ED50-BCD7-3509E26ABC09}"/>
              </a:ext>
            </a:extLst>
          </p:cNvPr>
          <p:cNvSpPr>
            <a:spLocks noGrp="1"/>
          </p:cNvSpPr>
          <p:nvPr>
            <p:ph type="title"/>
          </p:nvPr>
        </p:nvSpPr>
        <p:spPr/>
        <p:txBody>
          <a:bodyPr/>
          <a:lstStyle/>
          <a:p>
            <a:r>
              <a:rPr lang="en-US" dirty="0">
                <a:cs typeface="Calibri Light"/>
              </a:rPr>
              <a:t>Introduction</a:t>
            </a:r>
            <a:endParaRPr lang="en-US" b="0" dirty="0">
              <a:cs typeface="Calibri Light"/>
            </a:endParaRPr>
          </a:p>
        </p:txBody>
      </p:sp>
      <p:sp>
        <p:nvSpPr>
          <p:cNvPr id="3" name="Content Placeholder 2">
            <a:extLst>
              <a:ext uri="{FF2B5EF4-FFF2-40B4-BE49-F238E27FC236}">
                <a16:creationId xmlns:a16="http://schemas.microsoft.com/office/drawing/2014/main" id="{A0518EED-A28C-E5F0-5A3E-64BAD281E801}"/>
              </a:ext>
            </a:extLst>
          </p:cNvPr>
          <p:cNvSpPr>
            <a:spLocks noGrp="1"/>
          </p:cNvSpPr>
          <p:nvPr>
            <p:ph idx="1"/>
          </p:nvPr>
        </p:nvSpPr>
        <p:spPr/>
        <p:txBody>
          <a:bodyPr/>
          <a:lstStyle/>
          <a:p>
            <a:r>
              <a:rPr lang="en-US" sz="2400" dirty="0"/>
              <a:t>1.1 However, various eye diseases such as </a:t>
            </a:r>
            <a:r>
              <a:rPr lang="en-US" sz="2400" dirty="0" err="1"/>
              <a:t>Acrima</a:t>
            </a:r>
            <a:r>
              <a:rPr lang="en-US" sz="2400" dirty="0"/>
              <a:t>, Glaucoma, Odir-5K, </a:t>
            </a:r>
            <a:r>
              <a:rPr lang="en-US" sz="2400" dirty="0" err="1"/>
              <a:t>Origa</a:t>
            </a:r>
            <a:r>
              <a:rPr lang="en-US" sz="2400" dirty="0"/>
              <a:t>, Cataract and Retina disease can cause vision loss or even blindness, affecting the quality of life of millions of people worldwide. Early detection and accurate diagnosis of these diseases are crucial for effective treatment and prevention of vision loss. However, traditional methods of diagnosis require skilled ophthalmologists and are often time-consuming and expensive. </a:t>
            </a:r>
          </a:p>
          <a:p>
            <a:r>
              <a:rPr lang="en-US" sz="2400" dirty="0"/>
              <a:t>1.2 Technologies Machine learning (ML) and deep learning (DL) have emerged as promising tools for automated diagnosis of various eye diseases using retinal images. The use of ML and </a:t>
            </a:r>
            <a:r>
              <a:rPr lang="en-US" sz="2400" dirty="0" err="1"/>
              <a:t>DLbased</a:t>
            </a:r>
            <a:r>
              <a:rPr lang="en-US" sz="2400" dirty="0"/>
              <a:t> approaches can significantly improve the accuracy and efficiency of eye disease diagnosis, leading to better treatment outcomes and improved quality of life for patients.</a:t>
            </a:r>
            <a:endParaRPr lang="en-US" sz="2400" dirty="0">
              <a:cs typeface="Calibri"/>
            </a:endParaRPr>
          </a:p>
        </p:txBody>
      </p:sp>
      <p:sp>
        <p:nvSpPr>
          <p:cNvPr id="4" name="Date Placeholder 3">
            <a:extLst>
              <a:ext uri="{FF2B5EF4-FFF2-40B4-BE49-F238E27FC236}">
                <a16:creationId xmlns:a16="http://schemas.microsoft.com/office/drawing/2014/main" id="{3087EF2C-DF02-20ED-D1D7-B902A51579CE}"/>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FB7EC4CA-E501-BFAE-D8C8-0F79FE647E9D}"/>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5BCB54D3-AD0D-6EB3-1B75-4B9EF6E67C1F}"/>
              </a:ext>
            </a:extLst>
          </p:cNvPr>
          <p:cNvSpPr>
            <a:spLocks noGrp="1"/>
          </p:cNvSpPr>
          <p:nvPr>
            <p:ph type="sldNum" sz="quarter" idx="12"/>
          </p:nvPr>
        </p:nvSpPr>
        <p:spPr/>
        <p:txBody>
          <a:bodyPr/>
          <a:lstStyle/>
          <a:p>
            <a:fld id="{F92EEDBF-8856-48C9-AEED-4FDC54493AE3}" type="slidenum">
              <a:rPr lang="en-IN" altLang="en-US"/>
              <a:pPr/>
              <a:t>7</a:t>
            </a:fld>
            <a:endParaRPr lang="en-IN" altLang="en-US"/>
          </a:p>
        </p:txBody>
      </p:sp>
    </p:spTree>
    <p:extLst>
      <p:ext uri="{BB962C8B-B14F-4D97-AF65-F5344CB8AC3E}">
        <p14:creationId xmlns:p14="http://schemas.microsoft.com/office/powerpoint/2010/main" val="4135791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C7E48-42CB-9202-8E62-20C537D4B6C9}"/>
              </a:ext>
            </a:extLst>
          </p:cNvPr>
          <p:cNvSpPr>
            <a:spLocks noGrp="1"/>
          </p:cNvSpPr>
          <p:nvPr>
            <p:ph type="title"/>
          </p:nvPr>
        </p:nvSpPr>
        <p:spPr/>
        <p:txBody>
          <a:bodyPr/>
          <a:lstStyle/>
          <a:p>
            <a:r>
              <a:rPr lang="en-US" dirty="0">
                <a:cs typeface="Calibri Light"/>
              </a:rPr>
              <a:t>Introduction</a:t>
            </a:r>
            <a:endParaRPr lang="en-US" b="0" dirty="0">
              <a:cs typeface="Calibri Light"/>
            </a:endParaRPr>
          </a:p>
        </p:txBody>
      </p:sp>
      <p:sp>
        <p:nvSpPr>
          <p:cNvPr id="3" name="Content Placeholder 2">
            <a:extLst>
              <a:ext uri="{FF2B5EF4-FFF2-40B4-BE49-F238E27FC236}">
                <a16:creationId xmlns:a16="http://schemas.microsoft.com/office/drawing/2014/main" id="{DF1E61C7-8D47-FF23-8ACD-ED6DA688BAEE}"/>
              </a:ext>
            </a:extLst>
          </p:cNvPr>
          <p:cNvSpPr>
            <a:spLocks noGrp="1"/>
          </p:cNvSpPr>
          <p:nvPr>
            <p:ph idx="1"/>
          </p:nvPr>
        </p:nvSpPr>
        <p:spPr/>
        <p:txBody>
          <a:bodyPr/>
          <a:lstStyle/>
          <a:p>
            <a:r>
              <a:rPr lang="en-US" sz="2400" dirty="0"/>
              <a:t>1.3 </a:t>
            </a:r>
            <a:r>
              <a:rPr lang="en-US" sz="2400" dirty="0" err="1"/>
              <a:t>Approching</a:t>
            </a:r>
            <a:r>
              <a:rPr lang="en-US" sz="2400" dirty="0"/>
              <a:t> Methods The aim of this project is to develop a ML and DL-based approach for automatic detection and classification of various eye diseases using retinal images. The proposed approach will consist of three stages: pre-processing, feature extraction, and classification, In the pre-processing stage, we will perform image enhancement and normalization to improve the quality of the retinal images. In the feature extraction stage, we will use convolutional neural networks (CNNs) to extract discriminative features from the preprocessed images. Finally, in the classification stage, we will use various ML and DL algorithms such as support vector machines (SVM), random forests (RF), and deep neural networks (DNN) to classify the retinal images into different disease categories</a:t>
            </a:r>
            <a:r>
              <a:rPr lang="en-US" sz="1400" dirty="0"/>
              <a:t>.</a:t>
            </a:r>
            <a:endParaRPr lang="en-US" sz="2800" dirty="0">
              <a:cs typeface="Calibri"/>
            </a:endParaRPr>
          </a:p>
        </p:txBody>
      </p:sp>
      <p:sp>
        <p:nvSpPr>
          <p:cNvPr id="4" name="Date Placeholder 3">
            <a:extLst>
              <a:ext uri="{FF2B5EF4-FFF2-40B4-BE49-F238E27FC236}">
                <a16:creationId xmlns:a16="http://schemas.microsoft.com/office/drawing/2014/main" id="{5438F9D5-E163-CEB8-6605-FD8CD25573E1}"/>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201B2808-CBA1-DF70-588C-731D14134C0C}"/>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EBE3EC9A-F380-0603-FC75-B76A43418C21}"/>
              </a:ext>
            </a:extLst>
          </p:cNvPr>
          <p:cNvSpPr>
            <a:spLocks noGrp="1"/>
          </p:cNvSpPr>
          <p:nvPr>
            <p:ph type="sldNum" sz="quarter" idx="12"/>
          </p:nvPr>
        </p:nvSpPr>
        <p:spPr/>
        <p:txBody>
          <a:bodyPr/>
          <a:lstStyle/>
          <a:p>
            <a:fld id="{F92EEDBF-8856-48C9-AEED-4FDC54493AE3}" type="slidenum">
              <a:rPr lang="en-IN" altLang="en-US"/>
              <a:pPr/>
              <a:t>8</a:t>
            </a:fld>
            <a:endParaRPr lang="en-IN" altLang="en-US"/>
          </a:p>
        </p:txBody>
      </p:sp>
    </p:spTree>
    <p:extLst>
      <p:ext uri="{BB962C8B-B14F-4D97-AF65-F5344CB8AC3E}">
        <p14:creationId xmlns:p14="http://schemas.microsoft.com/office/powerpoint/2010/main" val="4127759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D67E6DC7-6FD0-951F-AAF5-55337105441C}"/>
              </a:ext>
            </a:extLst>
          </p:cNvPr>
          <p:cNvSpPr>
            <a:spLocks noGrp="1"/>
          </p:cNvSpPr>
          <p:nvPr>
            <p:ph type="title"/>
          </p:nvPr>
        </p:nvSpPr>
        <p:spPr>
          <a:xfrm>
            <a:off x="506413" y="377825"/>
            <a:ext cx="10515600" cy="1325563"/>
          </a:xfrm>
        </p:spPr>
        <p:txBody>
          <a:bodyPr/>
          <a:lstStyle/>
          <a:p>
            <a:r>
              <a:rPr lang="en-IN" b="0" i="0" dirty="0">
                <a:solidFill>
                  <a:srgbClr val="222222"/>
                </a:solidFill>
                <a:effectLst/>
                <a:latin typeface="Arial" panose="020B0604020202020204" pitchFamily="34" charset="0"/>
              </a:rPr>
              <a:t> Literature Study</a:t>
            </a:r>
            <a:endParaRPr lang="en-IN" altLang="en-US" dirty="0"/>
          </a:p>
        </p:txBody>
      </p:sp>
      <p:graphicFrame>
        <p:nvGraphicFramePr>
          <p:cNvPr id="7" name="Table 7">
            <a:extLst>
              <a:ext uri="{FF2B5EF4-FFF2-40B4-BE49-F238E27FC236}">
                <a16:creationId xmlns:a16="http://schemas.microsoft.com/office/drawing/2014/main" id="{619327B8-7F8B-6151-AACD-92D662500423}"/>
              </a:ext>
            </a:extLst>
          </p:cNvPr>
          <p:cNvGraphicFramePr>
            <a:graphicFrameLocks noGrp="1"/>
          </p:cNvGraphicFramePr>
          <p:nvPr>
            <p:ph idx="1"/>
            <p:extLst>
              <p:ext uri="{D42A27DB-BD31-4B8C-83A1-F6EECF244321}">
                <p14:modId xmlns:p14="http://schemas.microsoft.com/office/powerpoint/2010/main" val="651747241"/>
              </p:ext>
            </p:extLst>
          </p:nvPr>
        </p:nvGraphicFramePr>
        <p:xfrm>
          <a:off x="506413" y="1574800"/>
          <a:ext cx="10475910" cy="3507418"/>
        </p:xfrm>
        <a:graphic>
          <a:graphicData uri="http://schemas.openxmlformats.org/drawingml/2006/table">
            <a:tbl>
              <a:tblPr firstRow="1" bandRow="1">
                <a:tableStyleId>{5C22544A-7EE6-4342-B048-85BDC9FD1C3A}</a:tableStyleId>
              </a:tblPr>
              <a:tblGrid>
                <a:gridCol w="1626107">
                  <a:extLst>
                    <a:ext uri="{9D8B030D-6E8A-4147-A177-3AD203B41FA5}">
                      <a16:colId xmlns:a16="http://schemas.microsoft.com/office/drawing/2014/main" val="20000"/>
                    </a:ext>
                  </a:extLst>
                </a:gridCol>
                <a:gridCol w="2359485">
                  <a:extLst>
                    <a:ext uri="{9D8B030D-6E8A-4147-A177-3AD203B41FA5}">
                      <a16:colId xmlns:a16="http://schemas.microsoft.com/office/drawing/2014/main" val="20001"/>
                    </a:ext>
                  </a:extLst>
                </a:gridCol>
                <a:gridCol w="1709530">
                  <a:extLst>
                    <a:ext uri="{9D8B030D-6E8A-4147-A177-3AD203B41FA5}">
                      <a16:colId xmlns:a16="http://schemas.microsoft.com/office/drawing/2014/main" val="20002"/>
                    </a:ext>
                  </a:extLst>
                </a:gridCol>
                <a:gridCol w="1772373">
                  <a:extLst>
                    <a:ext uri="{9D8B030D-6E8A-4147-A177-3AD203B41FA5}">
                      <a16:colId xmlns:a16="http://schemas.microsoft.com/office/drawing/2014/main" val="20003"/>
                    </a:ext>
                  </a:extLst>
                </a:gridCol>
                <a:gridCol w="3008415">
                  <a:extLst>
                    <a:ext uri="{9D8B030D-6E8A-4147-A177-3AD203B41FA5}">
                      <a16:colId xmlns:a16="http://schemas.microsoft.com/office/drawing/2014/main" val="20004"/>
                    </a:ext>
                  </a:extLst>
                </a:gridCol>
              </a:tblGrid>
              <a:tr h="370840">
                <a:tc>
                  <a:txBody>
                    <a:bodyPr/>
                    <a:lstStyle/>
                    <a:p>
                      <a:pPr algn="ctr"/>
                      <a:r>
                        <a:rPr lang="en-US" sz="2400" dirty="0"/>
                        <a:t>Sr. number</a:t>
                      </a:r>
                      <a:endParaRPr lang="en-IN" sz="2400" dirty="0"/>
                    </a:p>
                  </a:txBody>
                  <a:tcPr/>
                </a:tc>
                <a:tc>
                  <a:txBody>
                    <a:bodyPr/>
                    <a:lstStyle/>
                    <a:p>
                      <a:pPr algn="ctr"/>
                      <a:r>
                        <a:rPr lang="en-US" sz="2400" dirty="0"/>
                        <a:t>Paper Title</a:t>
                      </a:r>
                      <a:endParaRPr lang="en-IN" sz="2400" dirty="0"/>
                    </a:p>
                  </a:txBody>
                  <a:tcPr/>
                </a:tc>
                <a:tc>
                  <a:txBody>
                    <a:bodyPr/>
                    <a:lstStyle/>
                    <a:p>
                      <a:pPr algn="ctr"/>
                      <a:r>
                        <a:rPr lang="en-US" sz="2400" dirty="0"/>
                        <a:t>Publisher</a:t>
                      </a:r>
                      <a:endParaRPr lang="en-IN" sz="2400" dirty="0"/>
                    </a:p>
                  </a:txBody>
                  <a:tcPr/>
                </a:tc>
                <a:tc>
                  <a:txBody>
                    <a:bodyPr/>
                    <a:lstStyle/>
                    <a:p>
                      <a:pPr algn="ctr"/>
                      <a:r>
                        <a:rPr lang="en-US" sz="2400" dirty="0"/>
                        <a:t>Year </a:t>
                      </a:r>
                      <a:endParaRPr lang="en-IN" sz="2400" dirty="0"/>
                    </a:p>
                  </a:txBody>
                  <a:tcPr/>
                </a:tc>
                <a:tc>
                  <a:txBody>
                    <a:bodyPr/>
                    <a:lstStyle/>
                    <a:p>
                      <a:pPr algn="ctr"/>
                      <a:r>
                        <a:rPr lang="en-US" sz="2400" dirty="0"/>
                        <a:t>Take-away points</a:t>
                      </a:r>
                      <a:endParaRPr lang="en-IN" sz="2400" dirty="0"/>
                    </a:p>
                  </a:txBody>
                  <a:tcPr/>
                </a:tc>
                <a:extLst>
                  <a:ext uri="{0D108BD9-81ED-4DB2-BD59-A6C34878D82A}">
                    <a16:rowId xmlns:a16="http://schemas.microsoft.com/office/drawing/2014/main" val="10000"/>
                  </a:ext>
                </a:extLst>
              </a:tr>
              <a:tr h="1434778">
                <a:tc>
                  <a:txBody>
                    <a:bodyPr/>
                    <a:lstStyle/>
                    <a:p>
                      <a:pPr algn="ctr"/>
                      <a:r>
                        <a:rPr lang="en-IN" sz="2400" dirty="0"/>
                        <a:t>1</a:t>
                      </a:r>
                    </a:p>
                  </a:txBody>
                  <a:tcPr/>
                </a:tc>
                <a:tc>
                  <a:txBody>
                    <a:bodyPr/>
                    <a:lstStyle/>
                    <a:p>
                      <a:pPr lvl="0" algn="ctr">
                        <a:buNone/>
                      </a:pPr>
                      <a:r>
                        <a:rPr lang="en-IN" sz="1800" b="0" i="0" u="none" strike="noStrike" baseline="0" noProof="0" dirty="0" err="1">
                          <a:solidFill>
                            <a:srgbClr val="000000"/>
                          </a:solidFill>
                          <a:latin typeface="Calibri"/>
                        </a:rPr>
                        <a:t>DeepEye</a:t>
                      </a:r>
                      <a:r>
                        <a:rPr lang="en-IN" sz="1800" b="0" i="0" u="none" strike="noStrike" baseline="0" noProof="0" dirty="0">
                          <a:solidFill>
                            <a:srgbClr val="000000"/>
                          </a:solidFill>
                          <a:latin typeface="Calibri"/>
                        </a:rPr>
                        <a:t>: An Advanced Computer Vision System for Eye Movement Analysis</a:t>
                      </a:r>
                      <a:endParaRPr lang="en-US" dirty="0"/>
                    </a:p>
                  </a:txBody>
                  <a:tcPr/>
                </a:tc>
                <a:tc>
                  <a:txBody>
                    <a:bodyPr/>
                    <a:lstStyle/>
                    <a:p>
                      <a:pPr lvl="0" algn="ctr">
                        <a:buNone/>
                      </a:pPr>
                      <a:r>
                        <a:rPr lang="en-IN" sz="1800" b="0" i="0" u="none" strike="noStrike" baseline="0" noProof="0" dirty="0">
                          <a:solidFill>
                            <a:srgbClr val="000000"/>
                          </a:solidFill>
                          <a:latin typeface="Calibri"/>
                        </a:rPr>
                        <a:t>M. Jung, B. M. </a:t>
                      </a:r>
                      <a:r>
                        <a:rPr lang="en-IN" sz="1800" b="0" i="0" u="none" strike="noStrike" baseline="0" noProof="0" dirty="0" err="1">
                          <a:solidFill>
                            <a:srgbClr val="000000"/>
                          </a:solidFill>
                          <a:latin typeface="Calibri"/>
                        </a:rPr>
                        <a:t>Velichkovsky</a:t>
                      </a:r>
                      <a:endParaRPr lang="en-US" dirty="0" err="1"/>
                    </a:p>
                  </a:txBody>
                  <a:tcPr/>
                </a:tc>
                <a:tc>
                  <a:txBody>
                    <a:bodyPr/>
                    <a:lstStyle/>
                    <a:p>
                      <a:pPr lvl="0" algn="ctr">
                        <a:buNone/>
                      </a:pPr>
                      <a:r>
                        <a:rPr lang="en-IN" sz="1800" b="0" i="0" u="none" strike="noStrike" baseline="0" noProof="0" dirty="0">
                          <a:solidFill>
                            <a:srgbClr val="000000"/>
                          </a:solidFill>
                          <a:latin typeface="Calibri"/>
                        </a:rPr>
                        <a:t>2018</a:t>
                      </a:r>
                    </a:p>
                  </a:txBody>
                  <a:tcPr/>
                </a:tc>
                <a:tc>
                  <a:txBody>
                    <a:bodyPr/>
                    <a:lstStyle/>
                    <a:p>
                      <a:pPr algn="ctr"/>
                      <a:endParaRPr lang="en-IN" sz="2400"/>
                    </a:p>
                  </a:txBody>
                  <a:tcPr/>
                </a:tc>
                <a:extLst>
                  <a:ext uri="{0D108BD9-81ED-4DB2-BD59-A6C34878D82A}">
                    <a16:rowId xmlns:a16="http://schemas.microsoft.com/office/drawing/2014/main" val="10001"/>
                  </a:ext>
                </a:extLst>
              </a:tr>
              <a:tr h="1567405">
                <a:tc>
                  <a:txBody>
                    <a:bodyPr/>
                    <a:lstStyle/>
                    <a:p>
                      <a:pPr algn="ctr"/>
                      <a:r>
                        <a:rPr lang="en-IN" sz="2400" dirty="0"/>
                        <a:t>2</a:t>
                      </a:r>
                    </a:p>
                  </a:txBody>
                  <a:tcPr/>
                </a:tc>
                <a:tc>
                  <a:txBody>
                    <a:bodyPr/>
                    <a:lstStyle/>
                    <a:p>
                      <a:pPr lvl="0" algn="ctr">
                        <a:buNone/>
                      </a:pPr>
                      <a:r>
                        <a:rPr lang="en-IN" sz="1800" b="0" i="0" u="none" strike="noStrike" baseline="0" noProof="0" err="1">
                          <a:solidFill>
                            <a:srgbClr val="000000"/>
                          </a:solidFill>
                          <a:latin typeface="Calibri"/>
                        </a:rPr>
                        <a:t>EyeNet</a:t>
                      </a:r>
                      <a:r>
                        <a:rPr lang="en-IN" sz="1800" b="0" i="0" u="none" strike="noStrike" baseline="0" noProof="0" dirty="0">
                          <a:solidFill>
                            <a:srgbClr val="000000"/>
                          </a:solidFill>
                          <a:latin typeface="Calibri"/>
                        </a:rPr>
                        <a:t>: A Convolutional Neural Network for Eye Movement Classification</a:t>
                      </a:r>
                      <a:endParaRPr lang="en-US" sz="1800"/>
                    </a:p>
                  </a:txBody>
                  <a:tcPr/>
                </a:tc>
                <a:tc>
                  <a:txBody>
                    <a:bodyPr/>
                    <a:lstStyle/>
                    <a:p>
                      <a:pPr lvl="0" algn="ctr">
                        <a:buNone/>
                      </a:pPr>
                      <a:r>
                        <a:rPr lang="en-IN" sz="1800" b="0" i="0" u="none" strike="noStrike" baseline="0" noProof="0" dirty="0">
                          <a:solidFill>
                            <a:srgbClr val="000000"/>
                          </a:solidFill>
                          <a:latin typeface="Calibri"/>
                        </a:rPr>
                        <a:t>J. S. Park, K. H. Park, H. J. Yang</a:t>
                      </a:r>
                      <a:endParaRPr lang="en-US" dirty="0"/>
                    </a:p>
                  </a:txBody>
                  <a:tcPr/>
                </a:tc>
                <a:tc>
                  <a:txBody>
                    <a:bodyPr/>
                    <a:lstStyle/>
                    <a:p>
                      <a:pPr lvl="0" algn="ctr">
                        <a:buNone/>
                      </a:pPr>
                      <a:r>
                        <a:rPr lang="en-IN" sz="1800" b="0" i="0" u="none" strike="noStrike" baseline="0" noProof="0" dirty="0">
                          <a:solidFill>
                            <a:srgbClr val="000000"/>
                          </a:solidFill>
                          <a:latin typeface="Calibri"/>
                        </a:rPr>
                        <a:t>2020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600" dirty="0">
                          <a:effectLst/>
                        </a:rPr>
                        <a:t>​</a:t>
                      </a:r>
                      <a:r>
                        <a:rPr lang="en-IN" sz="2000" b="0" dirty="0">
                          <a:effectLst/>
                        </a:rPr>
                        <a:t>classification of retinal images using convolutional neural networks (CNNs), </a:t>
                      </a:r>
                    </a:p>
                    <a:p>
                      <a:pPr algn="ctr"/>
                      <a:endParaRPr lang="en-IN" sz="2400" dirty="0"/>
                    </a:p>
                  </a:txBody>
                  <a:tcPr/>
                </a:tc>
                <a:extLst>
                  <a:ext uri="{0D108BD9-81ED-4DB2-BD59-A6C34878D82A}">
                    <a16:rowId xmlns:a16="http://schemas.microsoft.com/office/drawing/2014/main" val="10002"/>
                  </a:ext>
                </a:extLst>
              </a:tr>
            </a:tbl>
          </a:graphicData>
        </a:graphic>
      </p:graphicFrame>
      <p:sp>
        <p:nvSpPr>
          <p:cNvPr id="14377" name="Date Placeholder 3">
            <a:extLst>
              <a:ext uri="{FF2B5EF4-FFF2-40B4-BE49-F238E27FC236}">
                <a16:creationId xmlns:a16="http://schemas.microsoft.com/office/drawing/2014/main" id="{5D48D39A-B4E0-4420-FE71-42D998282CD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1759D9B4-5BDF-4AF9-9C3C-7C6D8A717D79}" type="datetime1">
              <a:rPr lang="en-IN" altLang="en-US"/>
              <a:pPr fontAlgn="base">
                <a:spcBef>
                  <a:spcPct val="0"/>
                </a:spcBef>
                <a:spcAft>
                  <a:spcPct val="0"/>
                </a:spcAft>
              </a:pPr>
              <a:t>03-05-2025</a:t>
            </a:fld>
            <a:endParaRPr lang="en-IN" altLang="en-US"/>
          </a:p>
        </p:txBody>
      </p:sp>
      <p:sp>
        <p:nvSpPr>
          <p:cNvPr id="14378" name="Footer Placeholder 4">
            <a:extLst>
              <a:ext uri="{FF2B5EF4-FFF2-40B4-BE49-F238E27FC236}">
                <a16:creationId xmlns:a16="http://schemas.microsoft.com/office/drawing/2014/main" id="{B92B3AA2-F81A-9E01-09B8-891F6E61FC7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Project Presentation 2023</a:t>
            </a:r>
            <a:endParaRPr lang="en-IN" altLang="en-US"/>
          </a:p>
        </p:txBody>
      </p:sp>
      <p:sp>
        <p:nvSpPr>
          <p:cNvPr id="14379" name="Slide Number Placeholder 5">
            <a:extLst>
              <a:ext uri="{FF2B5EF4-FFF2-40B4-BE49-F238E27FC236}">
                <a16:creationId xmlns:a16="http://schemas.microsoft.com/office/drawing/2014/main" id="{1329DA2E-274C-6398-986C-392BEF2F332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12356F5-BD56-4847-804D-3545EA6F066D}" type="slidenum">
              <a:rPr lang="en-IN" altLang="en-US"/>
              <a:pPr/>
              <a:t>9</a:t>
            </a:fld>
            <a:endParaRPr lang="en-I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DB9E7-83FC-0D6D-3703-DC4121CF5707}"/>
              </a:ext>
            </a:extLst>
          </p:cNvPr>
          <p:cNvSpPr>
            <a:spLocks noGrp="1"/>
          </p:cNvSpPr>
          <p:nvPr>
            <p:ph type="title"/>
          </p:nvPr>
        </p:nvSpPr>
        <p:spPr/>
        <p:txBody>
          <a:bodyPr/>
          <a:lstStyle/>
          <a:p>
            <a:r>
              <a:rPr lang="en-IN" b="0" i="0" dirty="0">
                <a:solidFill>
                  <a:srgbClr val="222222"/>
                </a:solidFill>
                <a:effectLst/>
                <a:latin typeface="Arial" panose="020B0604020202020204" pitchFamily="34" charset="0"/>
              </a:rPr>
              <a:t> Literature Study</a:t>
            </a:r>
            <a:endParaRPr lang="en-US" dirty="0"/>
          </a:p>
        </p:txBody>
      </p:sp>
      <p:graphicFrame>
        <p:nvGraphicFramePr>
          <p:cNvPr id="8" name="Content Placeholder 7">
            <a:extLst>
              <a:ext uri="{FF2B5EF4-FFF2-40B4-BE49-F238E27FC236}">
                <a16:creationId xmlns:a16="http://schemas.microsoft.com/office/drawing/2014/main" id="{160F93D5-8634-EC00-48B8-8FE060E703E2}"/>
              </a:ext>
            </a:extLst>
          </p:cNvPr>
          <p:cNvGraphicFramePr>
            <a:graphicFrameLocks noGrp="1"/>
          </p:cNvGraphicFramePr>
          <p:nvPr>
            <p:ph idx="1"/>
            <p:extLst>
              <p:ext uri="{D42A27DB-BD31-4B8C-83A1-F6EECF244321}">
                <p14:modId xmlns:p14="http://schemas.microsoft.com/office/powerpoint/2010/main" val="840229238"/>
              </p:ext>
            </p:extLst>
          </p:nvPr>
        </p:nvGraphicFramePr>
        <p:xfrm>
          <a:off x="838200" y="2845203"/>
          <a:ext cx="10515598" cy="1280160"/>
        </p:xfrm>
        <a:graphic>
          <a:graphicData uri="http://schemas.openxmlformats.org/drawingml/2006/table">
            <a:tbl>
              <a:tblPr firstRow="1" bandRow="1">
                <a:tableStyleId>{5C22544A-7EE6-4342-B048-85BDC9FD1C3A}</a:tableStyleId>
              </a:tblPr>
              <a:tblGrid>
                <a:gridCol w="1632269">
                  <a:extLst>
                    <a:ext uri="{9D8B030D-6E8A-4147-A177-3AD203B41FA5}">
                      <a16:colId xmlns:a16="http://schemas.microsoft.com/office/drawing/2014/main" val="2124980940"/>
                    </a:ext>
                  </a:extLst>
                </a:gridCol>
                <a:gridCol w="2368424">
                  <a:extLst>
                    <a:ext uri="{9D8B030D-6E8A-4147-A177-3AD203B41FA5}">
                      <a16:colId xmlns:a16="http://schemas.microsoft.com/office/drawing/2014/main" val="160377375"/>
                    </a:ext>
                  </a:extLst>
                </a:gridCol>
                <a:gridCol w="1716008">
                  <a:extLst>
                    <a:ext uri="{9D8B030D-6E8A-4147-A177-3AD203B41FA5}">
                      <a16:colId xmlns:a16="http://schemas.microsoft.com/office/drawing/2014/main" val="1303849085"/>
                    </a:ext>
                  </a:extLst>
                </a:gridCol>
                <a:gridCol w="1779086">
                  <a:extLst>
                    <a:ext uri="{9D8B030D-6E8A-4147-A177-3AD203B41FA5}">
                      <a16:colId xmlns:a16="http://schemas.microsoft.com/office/drawing/2014/main" val="3879082282"/>
                    </a:ext>
                  </a:extLst>
                </a:gridCol>
                <a:gridCol w="3019811">
                  <a:extLst>
                    <a:ext uri="{9D8B030D-6E8A-4147-A177-3AD203B41FA5}">
                      <a16:colId xmlns:a16="http://schemas.microsoft.com/office/drawing/2014/main" val="243699802"/>
                    </a:ext>
                  </a:extLst>
                </a:gridCol>
              </a:tblGrid>
              <a:tr h="292960">
                <a:tc>
                  <a:txBody>
                    <a:bodyPr/>
                    <a:lstStyle/>
                    <a:p>
                      <a:pPr algn="ctr" rtl="0" fontAlgn="base"/>
                      <a:r>
                        <a:rPr lang="en-IN" sz="2400" dirty="0">
                          <a:effectLst/>
                        </a:rPr>
                        <a:t>3</a:t>
                      </a:r>
                    </a:p>
                  </a:txBody>
                  <a:tcPr>
                    <a:solidFill>
                      <a:schemeClr val="accent1">
                        <a:lumMod val="40000"/>
                        <a:lumOff val="60000"/>
                      </a:schemeClr>
                    </a:solidFill>
                  </a:tcPr>
                </a:tc>
                <a:tc>
                  <a:txBody>
                    <a:bodyPr/>
                    <a:lstStyle/>
                    <a:p>
                      <a:pPr algn="ctr" rtl="0" fontAlgn="auto"/>
                      <a:r>
                        <a:rPr lang="en-IN" sz="2400" dirty="0">
                          <a:effectLst/>
                        </a:rPr>
                        <a:t>​</a:t>
                      </a:r>
                      <a:r>
                        <a:rPr lang="en-IN" sz="1800" b="0" dirty="0">
                          <a:effectLst/>
                        </a:rPr>
                        <a:t>Retinal image classification using convolutional neural networks</a:t>
                      </a:r>
                      <a:endParaRPr lang="en-IN" sz="1800" b="0" i="0">
                        <a:solidFill>
                          <a:srgbClr val="000000"/>
                        </a:solidFill>
                        <a:effectLst/>
                        <a:latin typeface="Calibri"/>
                      </a:endParaRPr>
                    </a:p>
                  </a:txBody>
                  <a:tcPr>
                    <a:solidFill>
                      <a:schemeClr val="accent1">
                        <a:lumMod val="40000"/>
                        <a:lumOff val="60000"/>
                      </a:schemeClr>
                    </a:solidFill>
                  </a:tcPr>
                </a:tc>
                <a:tc>
                  <a:txBody>
                    <a:bodyPr/>
                    <a:lstStyle/>
                    <a:p>
                      <a:pPr algn="ctr" rtl="0" fontAlgn="auto"/>
                      <a:r>
                        <a:rPr lang="en-IN" sz="2400" dirty="0">
                          <a:effectLst/>
                        </a:rPr>
                        <a:t>​</a:t>
                      </a:r>
                      <a:r>
                        <a:rPr lang="en-IN" sz="1800" b="0" dirty="0">
                          <a:effectLst/>
                        </a:rPr>
                        <a:t>Springer Nature</a:t>
                      </a:r>
                      <a:endParaRPr lang="en-IN" sz="1800" b="0" i="0" dirty="0">
                        <a:solidFill>
                          <a:srgbClr val="000000"/>
                        </a:solidFill>
                        <a:effectLst/>
                        <a:latin typeface="Calibri" panose="020F0502020204030204" pitchFamily="34" charset="0"/>
                      </a:endParaRPr>
                    </a:p>
                  </a:txBody>
                  <a:tcPr>
                    <a:solidFill>
                      <a:schemeClr val="accent1">
                        <a:lumMod val="40000"/>
                        <a:lumOff val="60000"/>
                      </a:schemeClr>
                    </a:solidFill>
                  </a:tcPr>
                </a:tc>
                <a:tc>
                  <a:txBody>
                    <a:bodyPr/>
                    <a:lstStyle/>
                    <a:p>
                      <a:pPr algn="ctr" rtl="0" fontAlgn="auto"/>
                      <a:r>
                        <a:rPr lang="en-IN" sz="2400" dirty="0">
                          <a:effectLst/>
                        </a:rPr>
                        <a:t>​</a:t>
                      </a:r>
                      <a:r>
                        <a:rPr lang="en-IN" sz="1800" b="0" dirty="0">
                          <a:effectLst/>
                        </a:rPr>
                        <a:t>2020</a:t>
                      </a:r>
                      <a:endParaRPr lang="en-IN" sz="1800" b="0" i="0" dirty="0">
                        <a:solidFill>
                          <a:srgbClr val="000000"/>
                        </a:solidFill>
                        <a:effectLst/>
                        <a:latin typeface="Calibri" panose="020F0502020204030204" pitchFamily="34" charset="0"/>
                      </a:endParaRPr>
                    </a:p>
                  </a:txBody>
                  <a:tcPr>
                    <a:solidFill>
                      <a:schemeClr val="accent1">
                        <a:lumMod val="40000"/>
                        <a:lumOff val="60000"/>
                      </a:schemeClr>
                    </a:solidFill>
                  </a:tcPr>
                </a:tc>
                <a:tc>
                  <a:txBody>
                    <a:bodyPr/>
                    <a:lstStyle/>
                    <a:p>
                      <a:pPr algn="ctr" rtl="0" fontAlgn="auto"/>
                      <a:r>
                        <a:rPr lang="en-IN" sz="2400" dirty="0">
                          <a:effectLst/>
                        </a:rPr>
                        <a:t>​</a:t>
                      </a:r>
                      <a:r>
                        <a:rPr lang="en-IN" sz="1600" b="0" dirty="0">
                          <a:effectLst/>
                        </a:rPr>
                        <a:t>classification of retinal images using convolutional neural networks (CNNs), </a:t>
                      </a:r>
                    </a:p>
                  </a:txBody>
                  <a:tcPr>
                    <a:solidFill>
                      <a:schemeClr val="accent1">
                        <a:lumMod val="40000"/>
                        <a:lumOff val="60000"/>
                      </a:schemeClr>
                    </a:solidFill>
                  </a:tcPr>
                </a:tc>
                <a:extLst>
                  <a:ext uri="{0D108BD9-81ED-4DB2-BD59-A6C34878D82A}">
                    <a16:rowId xmlns:a16="http://schemas.microsoft.com/office/drawing/2014/main" val="3663228471"/>
                  </a:ext>
                </a:extLst>
              </a:tr>
            </a:tbl>
          </a:graphicData>
        </a:graphic>
      </p:graphicFrame>
      <p:sp>
        <p:nvSpPr>
          <p:cNvPr id="4" name="Date Placeholder 3">
            <a:extLst>
              <a:ext uri="{FF2B5EF4-FFF2-40B4-BE49-F238E27FC236}">
                <a16:creationId xmlns:a16="http://schemas.microsoft.com/office/drawing/2014/main" id="{D9AB250A-59A6-CD3A-A742-AF7FB3310061}"/>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AF83BCA4-5E8A-1089-431D-AB93B8BCB4ED}"/>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60612D8E-D859-45E3-B91A-5A4E7DFA53AF}"/>
              </a:ext>
            </a:extLst>
          </p:cNvPr>
          <p:cNvSpPr>
            <a:spLocks noGrp="1"/>
          </p:cNvSpPr>
          <p:nvPr>
            <p:ph type="sldNum" sz="quarter" idx="12"/>
          </p:nvPr>
        </p:nvSpPr>
        <p:spPr/>
        <p:txBody>
          <a:bodyPr/>
          <a:lstStyle/>
          <a:p>
            <a:fld id="{F92EEDBF-8856-48C9-AEED-4FDC54493AE3}" type="slidenum">
              <a:rPr lang="en-IN" altLang="en-US"/>
              <a:pPr/>
              <a:t>10</a:t>
            </a:fld>
            <a:endParaRPr lang="en-IN" altLang="en-US"/>
          </a:p>
        </p:txBody>
      </p:sp>
      <p:graphicFrame>
        <p:nvGraphicFramePr>
          <p:cNvPr id="10" name="Table 9">
            <a:extLst>
              <a:ext uri="{FF2B5EF4-FFF2-40B4-BE49-F238E27FC236}">
                <a16:creationId xmlns:a16="http://schemas.microsoft.com/office/drawing/2014/main" id="{9F20C050-E300-A11D-0267-974A12A49423}"/>
              </a:ext>
            </a:extLst>
          </p:cNvPr>
          <p:cNvGraphicFramePr>
            <a:graphicFrameLocks noGrp="1"/>
          </p:cNvGraphicFramePr>
          <p:nvPr>
            <p:extLst>
              <p:ext uri="{D42A27DB-BD31-4B8C-83A1-F6EECF244321}">
                <p14:modId xmlns:p14="http://schemas.microsoft.com/office/powerpoint/2010/main" val="584557856"/>
              </p:ext>
            </p:extLst>
          </p:nvPr>
        </p:nvGraphicFramePr>
        <p:xfrm>
          <a:off x="826394" y="2071352"/>
          <a:ext cx="10537071" cy="457200"/>
        </p:xfrm>
        <a:graphic>
          <a:graphicData uri="http://schemas.openxmlformats.org/drawingml/2006/table">
            <a:tbl>
              <a:tblPr firstRow="1" bandRow="1">
                <a:tableStyleId>{5C22544A-7EE6-4342-B048-85BDC9FD1C3A}</a:tableStyleId>
              </a:tblPr>
              <a:tblGrid>
                <a:gridCol w="1635598">
                  <a:extLst>
                    <a:ext uri="{9D8B030D-6E8A-4147-A177-3AD203B41FA5}">
                      <a16:colId xmlns:a16="http://schemas.microsoft.com/office/drawing/2014/main" val="241977528"/>
                    </a:ext>
                  </a:extLst>
                </a:gridCol>
                <a:gridCol w="2373264">
                  <a:extLst>
                    <a:ext uri="{9D8B030D-6E8A-4147-A177-3AD203B41FA5}">
                      <a16:colId xmlns:a16="http://schemas.microsoft.com/office/drawing/2014/main" val="1273872093"/>
                    </a:ext>
                  </a:extLst>
                </a:gridCol>
                <a:gridCol w="1719515">
                  <a:extLst>
                    <a:ext uri="{9D8B030D-6E8A-4147-A177-3AD203B41FA5}">
                      <a16:colId xmlns:a16="http://schemas.microsoft.com/office/drawing/2014/main" val="689698246"/>
                    </a:ext>
                  </a:extLst>
                </a:gridCol>
                <a:gridCol w="1782720">
                  <a:extLst>
                    <a:ext uri="{9D8B030D-6E8A-4147-A177-3AD203B41FA5}">
                      <a16:colId xmlns:a16="http://schemas.microsoft.com/office/drawing/2014/main" val="2643004049"/>
                    </a:ext>
                  </a:extLst>
                </a:gridCol>
                <a:gridCol w="3025974">
                  <a:extLst>
                    <a:ext uri="{9D8B030D-6E8A-4147-A177-3AD203B41FA5}">
                      <a16:colId xmlns:a16="http://schemas.microsoft.com/office/drawing/2014/main" val="2298578"/>
                    </a:ext>
                  </a:extLst>
                </a:gridCol>
              </a:tblGrid>
              <a:tr h="263290">
                <a:tc>
                  <a:txBody>
                    <a:bodyPr/>
                    <a:lstStyle/>
                    <a:p>
                      <a:pPr algn="ctr" rtl="0" fontAlgn="base"/>
                      <a:r>
                        <a:rPr lang="en-US" sz="2400">
                          <a:effectLst/>
                        </a:rPr>
                        <a:t>Sr. number​</a:t>
                      </a:r>
                      <a:endParaRPr lang="en-US" b="1">
                        <a:solidFill>
                          <a:srgbClr val="FFFFFF"/>
                        </a:solidFill>
                        <a:effectLst/>
                      </a:endParaRPr>
                    </a:p>
                  </a:txBody>
                  <a:tcPr/>
                </a:tc>
                <a:tc>
                  <a:txBody>
                    <a:bodyPr/>
                    <a:lstStyle/>
                    <a:p>
                      <a:pPr algn="ctr" rtl="0" fontAlgn="base"/>
                      <a:r>
                        <a:rPr lang="en-US" sz="2400">
                          <a:effectLst/>
                        </a:rPr>
                        <a:t>Paper Title​</a:t>
                      </a:r>
                      <a:endParaRPr lang="en-US" b="1">
                        <a:solidFill>
                          <a:srgbClr val="FFFFFF"/>
                        </a:solidFill>
                        <a:effectLst/>
                      </a:endParaRPr>
                    </a:p>
                  </a:txBody>
                  <a:tcPr/>
                </a:tc>
                <a:tc>
                  <a:txBody>
                    <a:bodyPr/>
                    <a:lstStyle/>
                    <a:p>
                      <a:pPr algn="ctr" rtl="0" fontAlgn="base"/>
                      <a:r>
                        <a:rPr lang="en-US" sz="2400">
                          <a:effectLst/>
                        </a:rPr>
                        <a:t>Publisher​</a:t>
                      </a:r>
                      <a:endParaRPr lang="en-US" b="1">
                        <a:solidFill>
                          <a:srgbClr val="FFFFFF"/>
                        </a:solidFill>
                        <a:effectLst/>
                      </a:endParaRPr>
                    </a:p>
                  </a:txBody>
                  <a:tcPr/>
                </a:tc>
                <a:tc>
                  <a:txBody>
                    <a:bodyPr/>
                    <a:lstStyle/>
                    <a:p>
                      <a:pPr algn="ctr" rtl="0" fontAlgn="base"/>
                      <a:r>
                        <a:rPr lang="en-US" sz="2400">
                          <a:effectLst/>
                        </a:rPr>
                        <a:t>Year ​</a:t>
                      </a:r>
                      <a:endParaRPr lang="en-US" b="1">
                        <a:solidFill>
                          <a:srgbClr val="FFFFFF"/>
                        </a:solidFill>
                        <a:effectLst/>
                      </a:endParaRPr>
                    </a:p>
                  </a:txBody>
                  <a:tcPr/>
                </a:tc>
                <a:tc>
                  <a:txBody>
                    <a:bodyPr/>
                    <a:lstStyle/>
                    <a:p>
                      <a:pPr algn="ctr" rtl="0" fontAlgn="base"/>
                      <a:r>
                        <a:rPr lang="en-US" sz="2400">
                          <a:effectLst/>
                        </a:rPr>
                        <a:t>Take-away points​</a:t>
                      </a:r>
                      <a:endParaRPr lang="en-US" b="1">
                        <a:solidFill>
                          <a:srgbClr val="FFFFFF"/>
                        </a:solidFill>
                        <a:effectLst/>
                      </a:endParaRPr>
                    </a:p>
                  </a:txBody>
                  <a:tcPr/>
                </a:tc>
                <a:extLst>
                  <a:ext uri="{0D108BD9-81ED-4DB2-BD59-A6C34878D82A}">
                    <a16:rowId xmlns:a16="http://schemas.microsoft.com/office/drawing/2014/main" val="2669128364"/>
                  </a:ext>
                </a:extLst>
              </a:tr>
            </a:tbl>
          </a:graphicData>
        </a:graphic>
      </p:graphicFrame>
      <p:graphicFrame>
        <p:nvGraphicFramePr>
          <p:cNvPr id="16" name="Table 15">
            <a:extLst>
              <a:ext uri="{FF2B5EF4-FFF2-40B4-BE49-F238E27FC236}">
                <a16:creationId xmlns:a16="http://schemas.microsoft.com/office/drawing/2014/main" id="{2D2FAE62-E1AE-DFD0-0324-E73EB24368D0}"/>
              </a:ext>
            </a:extLst>
          </p:cNvPr>
          <p:cNvGraphicFramePr>
            <a:graphicFrameLocks noGrp="1"/>
          </p:cNvGraphicFramePr>
          <p:nvPr>
            <p:extLst>
              <p:ext uri="{D42A27DB-BD31-4B8C-83A1-F6EECF244321}">
                <p14:modId xmlns:p14="http://schemas.microsoft.com/office/powerpoint/2010/main" val="1492718365"/>
              </p:ext>
            </p:extLst>
          </p:nvPr>
        </p:nvGraphicFramePr>
        <p:xfrm>
          <a:off x="842743" y="4136020"/>
          <a:ext cx="10525902" cy="1554480"/>
        </p:xfrm>
        <a:graphic>
          <a:graphicData uri="http://schemas.openxmlformats.org/drawingml/2006/table">
            <a:tbl>
              <a:tblPr firstRow="1" bandRow="1">
                <a:tableStyleId>{5C22544A-7EE6-4342-B048-85BDC9FD1C3A}</a:tableStyleId>
              </a:tblPr>
              <a:tblGrid>
                <a:gridCol w="1633871">
                  <a:extLst>
                    <a:ext uri="{9D8B030D-6E8A-4147-A177-3AD203B41FA5}">
                      <a16:colId xmlns:a16="http://schemas.microsoft.com/office/drawing/2014/main" val="1181512049"/>
                    </a:ext>
                  </a:extLst>
                </a:gridCol>
                <a:gridCol w="2370742">
                  <a:extLst>
                    <a:ext uri="{9D8B030D-6E8A-4147-A177-3AD203B41FA5}">
                      <a16:colId xmlns:a16="http://schemas.microsoft.com/office/drawing/2014/main" val="631171390"/>
                    </a:ext>
                  </a:extLst>
                </a:gridCol>
                <a:gridCol w="1717688">
                  <a:extLst>
                    <a:ext uri="{9D8B030D-6E8A-4147-A177-3AD203B41FA5}">
                      <a16:colId xmlns:a16="http://schemas.microsoft.com/office/drawing/2014/main" val="3127995782"/>
                    </a:ext>
                  </a:extLst>
                </a:gridCol>
                <a:gridCol w="1780831">
                  <a:extLst>
                    <a:ext uri="{9D8B030D-6E8A-4147-A177-3AD203B41FA5}">
                      <a16:colId xmlns:a16="http://schemas.microsoft.com/office/drawing/2014/main" val="669435332"/>
                    </a:ext>
                  </a:extLst>
                </a:gridCol>
                <a:gridCol w="3022770">
                  <a:extLst>
                    <a:ext uri="{9D8B030D-6E8A-4147-A177-3AD203B41FA5}">
                      <a16:colId xmlns:a16="http://schemas.microsoft.com/office/drawing/2014/main" val="2537525296"/>
                    </a:ext>
                  </a:extLst>
                </a:gridCol>
              </a:tblGrid>
              <a:tr h="231438">
                <a:tc>
                  <a:txBody>
                    <a:bodyPr/>
                    <a:lstStyle/>
                    <a:p>
                      <a:pPr algn="ctr" rtl="0" fontAlgn="base"/>
                      <a:r>
                        <a:rPr lang="en-IN" sz="2400" dirty="0">
                          <a:effectLst/>
                        </a:rPr>
                        <a:t>4​​</a:t>
                      </a:r>
                      <a:endParaRPr lang="en-IN" b="1" dirty="0">
                        <a:solidFill>
                          <a:srgbClr val="FFFFFF"/>
                        </a:solidFill>
                        <a:effectLst/>
                      </a:endParaRPr>
                    </a:p>
                  </a:txBody>
                  <a:tcPr>
                    <a:solidFill>
                      <a:schemeClr val="accent1">
                        <a:lumMod val="60000"/>
                        <a:lumOff val="40000"/>
                      </a:schemeClr>
                    </a:solidFill>
                  </a:tcPr>
                </a:tc>
                <a:tc>
                  <a:txBody>
                    <a:bodyPr/>
                    <a:lstStyle/>
                    <a:p>
                      <a:pPr algn="ctr" rtl="0" fontAlgn="base"/>
                      <a:r>
                        <a:rPr lang="en-IN" sz="2400" dirty="0">
                          <a:effectLst/>
                        </a:rPr>
                        <a:t>​​</a:t>
                      </a:r>
                      <a:r>
                        <a:rPr lang="en-IN" sz="1800" b="0" dirty="0">
                          <a:effectLst/>
                        </a:rPr>
                        <a:t>Retinal fundus image analysis for diagnosis of glaucoma using multiscale pyramid deep learning network</a:t>
                      </a:r>
                      <a:endParaRPr lang="en-IN" sz="1800" b="0" dirty="0">
                        <a:solidFill>
                          <a:srgbClr val="FFFFFF"/>
                        </a:solidFill>
                        <a:effectLst/>
                      </a:endParaRPr>
                    </a:p>
                  </a:txBody>
                  <a:tcPr>
                    <a:solidFill>
                      <a:schemeClr val="accent1">
                        <a:lumMod val="60000"/>
                        <a:lumOff val="40000"/>
                      </a:schemeClr>
                    </a:solidFill>
                  </a:tcPr>
                </a:tc>
                <a:tc>
                  <a:txBody>
                    <a:bodyPr/>
                    <a:lstStyle/>
                    <a:p>
                      <a:pPr algn="ctr" rtl="0" fontAlgn="base"/>
                      <a:r>
                        <a:rPr lang="en-IN" sz="2400" dirty="0">
                          <a:effectLst/>
                        </a:rPr>
                        <a:t>​</a:t>
                      </a:r>
                      <a:r>
                        <a:rPr lang="en-IN" sz="1800" b="0" dirty="0">
                          <a:effectLst/>
                        </a:rPr>
                        <a:t>​Springer Nature</a:t>
                      </a:r>
                      <a:endParaRPr lang="en-IN" sz="1800" b="0">
                        <a:solidFill>
                          <a:srgbClr val="FFFFFF"/>
                        </a:solidFill>
                        <a:effectLst/>
                      </a:endParaRPr>
                    </a:p>
                  </a:txBody>
                  <a:tcPr>
                    <a:solidFill>
                      <a:schemeClr val="accent1">
                        <a:lumMod val="60000"/>
                        <a:lumOff val="40000"/>
                      </a:schemeClr>
                    </a:solidFill>
                  </a:tcPr>
                </a:tc>
                <a:tc>
                  <a:txBody>
                    <a:bodyPr/>
                    <a:lstStyle/>
                    <a:p>
                      <a:pPr algn="ctr" rtl="0" fontAlgn="base"/>
                      <a:r>
                        <a:rPr lang="en-IN" sz="2400" dirty="0">
                          <a:effectLst/>
                        </a:rPr>
                        <a:t>​​</a:t>
                      </a:r>
                      <a:r>
                        <a:rPr lang="en-IN" sz="1800" b="0" dirty="0">
                          <a:effectLst/>
                        </a:rPr>
                        <a:t>2020</a:t>
                      </a:r>
                      <a:endParaRPr lang="en-IN" sz="1800" b="0" dirty="0">
                        <a:solidFill>
                          <a:srgbClr val="FFFFFF"/>
                        </a:solidFill>
                        <a:effectLst/>
                      </a:endParaRPr>
                    </a:p>
                  </a:txBody>
                  <a:tcPr>
                    <a:solidFill>
                      <a:schemeClr val="accent1">
                        <a:lumMod val="60000"/>
                        <a:lumOff val="40000"/>
                      </a:schemeClr>
                    </a:solidFill>
                  </a:tcPr>
                </a:tc>
                <a:tc>
                  <a:txBody>
                    <a:bodyPr/>
                    <a:lstStyle/>
                    <a:p>
                      <a:pPr algn="ctr" rtl="0" fontAlgn="base"/>
                      <a:r>
                        <a:rPr lang="en-IN" sz="2400" dirty="0">
                          <a:effectLst/>
                        </a:rPr>
                        <a:t>​​</a:t>
                      </a:r>
                      <a:r>
                        <a:rPr lang="en-IN" sz="1600" b="0" i="0" u="none" strike="noStrike" noProof="0" dirty="0">
                          <a:solidFill>
                            <a:srgbClr val="FFFFFF"/>
                          </a:solidFill>
                          <a:effectLst/>
                          <a:latin typeface="Calibri"/>
                        </a:rPr>
                        <a:t>to develop an effective deep learning-based method for the diagnosis of glaucoma using retinal fundus images.</a:t>
                      </a:r>
                      <a:endParaRPr lang="en-IN" sz="1600" b="1" i="0" u="none" strike="noStrike" noProof="0" dirty="0">
                        <a:solidFill>
                          <a:srgbClr val="FFFFFF"/>
                        </a:solidFill>
                        <a:effectLst/>
                        <a:latin typeface="Calibri"/>
                      </a:endParaRPr>
                    </a:p>
                    <a:p>
                      <a:pPr lvl="0" algn="ctr">
                        <a:buNone/>
                      </a:pPr>
                      <a:endParaRPr lang="en-IN" sz="2400" dirty="0">
                        <a:effectLst/>
                      </a:endParaRPr>
                    </a:p>
                  </a:txBody>
                  <a:tcPr>
                    <a:solidFill>
                      <a:schemeClr val="accent1">
                        <a:lumMod val="60000"/>
                        <a:lumOff val="40000"/>
                      </a:schemeClr>
                    </a:solidFill>
                  </a:tcPr>
                </a:tc>
                <a:extLst>
                  <a:ext uri="{0D108BD9-81ED-4DB2-BD59-A6C34878D82A}">
                    <a16:rowId xmlns:a16="http://schemas.microsoft.com/office/drawing/2014/main" val="1915278180"/>
                  </a:ext>
                </a:extLst>
              </a:tr>
            </a:tbl>
          </a:graphicData>
        </a:graphic>
      </p:graphicFrame>
    </p:spTree>
    <p:extLst>
      <p:ext uri="{BB962C8B-B14F-4D97-AF65-F5344CB8AC3E}">
        <p14:creationId xmlns:p14="http://schemas.microsoft.com/office/powerpoint/2010/main" val="3019234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A3E8A-3732-F4AF-C2FB-F7F2595BE802}"/>
              </a:ext>
            </a:extLst>
          </p:cNvPr>
          <p:cNvSpPr>
            <a:spLocks noGrp="1"/>
          </p:cNvSpPr>
          <p:nvPr>
            <p:ph type="title"/>
          </p:nvPr>
        </p:nvSpPr>
        <p:spPr/>
        <p:txBody>
          <a:bodyPr rtlCol="0">
            <a:normAutofit fontScale="90000"/>
          </a:bodyPr>
          <a:lstStyle/>
          <a:p>
            <a:pPr fontAlgn="auto">
              <a:spcAft>
                <a:spcPts val="0"/>
              </a:spcAft>
              <a:defRPr/>
            </a:pPr>
            <a:br>
              <a:rPr lang="en-US" dirty="0"/>
            </a:br>
            <a:r>
              <a:rPr lang="en-US" dirty="0"/>
              <a:t>Flowchart of the system</a:t>
            </a:r>
            <a:br>
              <a:rPr lang="en-US" dirty="0"/>
            </a:br>
            <a:endParaRPr lang="en-IN" dirty="0"/>
          </a:p>
        </p:txBody>
      </p:sp>
      <p:pic>
        <p:nvPicPr>
          <p:cNvPr id="3" name="Picture 3" descr="A picture containing text, screenshot, fruit&#10;&#10;Description automatically generated">
            <a:extLst>
              <a:ext uri="{FF2B5EF4-FFF2-40B4-BE49-F238E27FC236}">
                <a16:creationId xmlns:a16="http://schemas.microsoft.com/office/drawing/2014/main" id="{E3C76083-3E87-5FC1-5126-F7ED41650A2D}"/>
              </a:ext>
            </a:extLst>
          </p:cNvPr>
          <p:cNvPicPr>
            <a:picLocks noGrp="1" noChangeAspect="1"/>
          </p:cNvPicPr>
          <p:nvPr>
            <p:ph idx="1"/>
          </p:nvPr>
        </p:nvPicPr>
        <p:blipFill>
          <a:blip r:embed="rId2"/>
          <a:stretch>
            <a:fillRect/>
          </a:stretch>
        </p:blipFill>
        <p:spPr>
          <a:xfrm>
            <a:off x="2258566" y="1589344"/>
            <a:ext cx="7181313" cy="3958106"/>
          </a:xfrm>
        </p:spPr>
      </p:pic>
      <p:sp>
        <p:nvSpPr>
          <p:cNvPr id="15364" name="Date Placeholder 3">
            <a:extLst>
              <a:ext uri="{FF2B5EF4-FFF2-40B4-BE49-F238E27FC236}">
                <a16:creationId xmlns:a16="http://schemas.microsoft.com/office/drawing/2014/main" id="{984ACADC-260D-44BD-17E8-5C141302003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CA6C5FC2-6FD1-4E33-8B8D-18F05C1B73F7}" type="datetime1">
              <a:rPr lang="en-IN" altLang="en-US"/>
              <a:pPr fontAlgn="base">
                <a:spcBef>
                  <a:spcPct val="0"/>
                </a:spcBef>
                <a:spcAft>
                  <a:spcPct val="0"/>
                </a:spcAft>
              </a:pPr>
              <a:t>03-05-2025</a:t>
            </a:fld>
            <a:endParaRPr lang="en-IN" altLang="en-US"/>
          </a:p>
        </p:txBody>
      </p:sp>
      <p:sp>
        <p:nvSpPr>
          <p:cNvPr id="15365" name="Footer Placeholder 4">
            <a:extLst>
              <a:ext uri="{FF2B5EF4-FFF2-40B4-BE49-F238E27FC236}">
                <a16:creationId xmlns:a16="http://schemas.microsoft.com/office/drawing/2014/main" id="{8188A3B1-0C55-6D44-055C-73C9230D542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Project Presentation 2023</a:t>
            </a:r>
            <a:endParaRPr lang="en-IN" altLang="en-US"/>
          </a:p>
        </p:txBody>
      </p:sp>
      <p:sp>
        <p:nvSpPr>
          <p:cNvPr id="15366" name="Slide Number Placeholder 5">
            <a:extLst>
              <a:ext uri="{FF2B5EF4-FFF2-40B4-BE49-F238E27FC236}">
                <a16:creationId xmlns:a16="http://schemas.microsoft.com/office/drawing/2014/main" id="{C1C4F43D-31A2-FDA0-3424-8A55380857C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B8E96AE-B710-4850-8C7A-1E95F641A38E}" type="slidenum">
              <a:rPr lang="en-IN" altLang="en-US"/>
              <a:pPr/>
              <a:t>11</a:t>
            </a:fld>
            <a:endParaRPr lang="en-IN" altLang="en-US"/>
          </a:p>
        </p:txBody>
      </p:sp>
      <p:pic>
        <p:nvPicPr>
          <p:cNvPr id="4" name="Picture 3" descr="A picture containing text, screenshot, fruit&#10;&#10;Description automatically generated">
            <a:extLst>
              <a:ext uri="{FF2B5EF4-FFF2-40B4-BE49-F238E27FC236}">
                <a16:creationId xmlns:a16="http://schemas.microsoft.com/office/drawing/2014/main" id="{B7BA442F-80C6-4B1D-785D-9FFA33EC6112}"/>
              </a:ext>
            </a:extLst>
          </p:cNvPr>
          <p:cNvPicPr>
            <a:picLocks noChangeAspect="1"/>
          </p:cNvPicPr>
          <p:nvPr/>
        </p:nvPicPr>
        <p:blipFill>
          <a:blip r:embed="rId2"/>
          <a:stretch>
            <a:fillRect/>
          </a:stretch>
        </p:blipFill>
        <p:spPr bwMode="auto">
          <a:xfrm>
            <a:off x="2410966" y="1741744"/>
            <a:ext cx="7181313" cy="3958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A picture containing text, screenshot, fruit">
            <a:extLst>
              <a:ext uri="{FF2B5EF4-FFF2-40B4-BE49-F238E27FC236}">
                <a16:creationId xmlns:a16="http://schemas.microsoft.com/office/drawing/2014/main" id="{FA176F6D-13FD-1FF1-1B77-C9A298142A4C}"/>
              </a:ext>
            </a:extLst>
          </p:cNvPr>
          <p:cNvPicPr>
            <a:picLocks noChangeAspect="1"/>
          </p:cNvPicPr>
          <p:nvPr/>
        </p:nvPicPr>
        <p:blipFill>
          <a:blip r:embed="rId2"/>
          <a:stretch>
            <a:fillRect/>
          </a:stretch>
        </p:blipFill>
        <p:spPr bwMode="auto">
          <a:xfrm>
            <a:off x="2410966" y="1690688"/>
            <a:ext cx="7181313" cy="3958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26DACAB0-488E-81A4-636B-7D1414853B88}"/>
              </a:ext>
            </a:extLst>
          </p:cNvPr>
          <p:cNvSpPr>
            <a:spLocks noGrp="1"/>
          </p:cNvSpPr>
          <p:nvPr>
            <p:ph type="title"/>
          </p:nvPr>
        </p:nvSpPr>
        <p:spPr>
          <a:xfrm>
            <a:off x="702527" y="636587"/>
            <a:ext cx="10651273" cy="1337179"/>
          </a:xfrm>
        </p:spPr>
        <p:txBody>
          <a:bodyPr/>
          <a:lstStyle/>
          <a:p>
            <a:r>
              <a:rPr lang="en-US" altLang="en-US" dirty="0"/>
              <a:t>Implementation Details</a:t>
            </a:r>
            <a:br>
              <a:rPr lang="en-US" altLang="en-US" dirty="0"/>
            </a:br>
            <a:endParaRPr lang="en-IN" altLang="en-US" dirty="0"/>
          </a:p>
        </p:txBody>
      </p:sp>
      <p:sp>
        <p:nvSpPr>
          <p:cNvPr id="16387" name="Content Placeholder 2">
            <a:extLst>
              <a:ext uri="{FF2B5EF4-FFF2-40B4-BE49-F238E27FC236}">
                <a16:creationId xmlns:a16="http://schemas.microsoft.com/office/drawing/2014/main" id="{972FCD38-AF12-D6EE-4F19-2EE3C9F2A978}"/>
              </a:ext>
            </a:extLst>
          </p:cNvPr>
          <p:cNvSpPr>
            <a:spLocks noGrp="1"/>
          </p:cNvSpPr>
          <p:nvPr>
            <p:ph idx="1"/>
          </p:nvPr>
        </p:nvSpPr>
        <p:spPr/>
        <p:txBody>
          <a:bodyPr/>
          <a:lstStyle/>
          <a:p>
            <a:r>
              <a:rPr lang="en-IN" altLang="en-US" sz="3200" b="1" dirty="0">
                <a:ea typeface="Calibri"/>
                <a:cs typeface="Calibri"/>
              </a:rPr>
              <a:t>Dataset Preparation:</a:t>
            </a:r>
            <a:endParaRPr lang="en-IN" altLang="en-US" sz="3200" dirty="0">
              <a:ea typeface="Calibri"/>
              <a:cs typeface="Calibri"/>
            </a:endParaRPr>
          </a:p>
          <a:p>
            <a:pPr lvl="1"/>
            <a:r>
              <a:rPr lang="en-IN" altLang="en-US" sz="2800" dirty="0">
                <a:ea typeface="Calibri"/>
                <a:cs typeface="Calibri"/>
              </a:rPr>
              <a:t>Collected a dataset of eye images of 9,824 patients with corresponding labels indicating the severity of  </a:t>
            </a:r>
            <a:r>
              <a:rPr lang="en-IN" altLang="en-US" sz="2800" dirty="0" err="1">
                <a:ea typeface="Calibri"/>
                <a:cs typeface="Calibri"/>
              </a:rPr>
              <a:t>Acrima,Glaucoma</a:t>
            </a:r>
            <a:r>
              <a:rPr lang="en-IN" altLang="en-US" sz="2800" dirty="0">
                <a:ea typeface="Calibri"/>
                <a:cs typeface="Calibri"/>
              </a:rPr>
              <a:t> , Odir-5k, </a:t>
            </a:r>
            <a:r>
              <a:rPr lang="en-IN" altLang="en-US" sz="2800" dirty="0" err="1">
                <a:ea typeface="Calibri"/>
                <a:cs typeface="Calibri"/>
              </a:rPr>
              <a:t>Origa,Cataract,retina_disease</a:t>
            </a:r>
            <a:r>
              <a:rPr lang="en-IN" altLang="en-US" sz="2800" dirty="0">
                <a:ea typeface="Calibri"/>
                <a:cs typeface="Calibri"/>
              </a:rPr>
              <a:t> Splitting the dataset into training and testing sets, ensuring a balanced distribution of images across different retinopathy levels.</a:t>
            </a:r>
          </a:p>
          <a:p>
            <a:r>
              <a:rPr lang="en-IN" altLang="en-US" sz="3200" b="1" dirty="0">
                <a:ea typeface="Calibri"/>
                <a:cs typeface="Calibri"/>
              </a:rPr>
              <a:t>Preprocessing:</a:t>
            </a:r>
            <a:endParaRPr lang="en-IN" altLang="en-US" sz="3200" dirty="0">
              <a:ea typeface="Calibri"/>
              <a:cs typeface="Calibri"/>
            </a:endParaRPr>
          </a:p>
          <a:p>
            <a:pPr lvl="1"/>
            <a:r>
              <a:rPr lang="en-IN" altLang="en-US" sz="2800" dirty="0">
                <a:ea typeface="Calibri"/>
                <a:cs typeface="Calibri"/>
              </a:rPr>
              <a:t>Resizing the input images to the appropriate size required by the InceptionV3 model (typically 299 x 299 </a:t>
            </a:r>
            <a:r>
              <a:rPr lang="en-IN" altLang="en-US" sz="2800" dirty="0" err="1">
                <a:ea typeface="Calibri"/>
                <a:cs typeface="Calibri"/>
              </a:rPr>
              <a:t>px</a:t>
            </a:r>
            <a:r>
              <a:rPr lang="en-IN" altLang="en-US" sz="2800" dirty="0">
                <a:ea typeface="Calibri"/>
                <a:cs typeface="Calibri"/>
              </a:rPr>
              <a:t>)</a:t>
            </a:r>
            <a:endParaRPr lang="en-IN" altLang="en-US" sz="2800" b="1" dirty="0">
              <a:ea typeface="Calibri"/>
              <a:cs typeface="Calibri"/>
            </a:endParaRPr>
          </a:p>
        </p:txBody>
      </p:sp>
      <p:sp>
        <p:nvSpPr>
          <p:cNvPr id="16388" name="Date Placeholder 3">
            <a:extLst>
              <a:ext uri="{FF2B5EF4-FFF2-40B4-BE49-F238E27FC236}">
                <a16:creationId xmlns:a16="http://schemas.microsoft.com/office/drawing/2014/main" id="{4604047E-01CD-1157-B678-FA3E26FFDB1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0EE11E1D-53C2-4174-BF93-E4C1AFF8F189}" type="datetime1">
              <a:rPr lang="en-IN" altLang="en-US"/>
              <a:pPr fontAlgn="base">
                <a:spcBef>
                  <a:spcPct val="0"/>
                </a:spcBef>
                <a:spcAft>
                  <a:spcPct val="0"/>
                </a:spcAft>
              </a:pPr>
              <a:t>03-05-2025</a:t>
            </a:fld>
            <a:endParaRPr lang="en-IN" altLang="en-US"/>
          </a:p>
        </p:txBody>
      </p:sp>
      <p:sp>
        <p:nvSpPr>
          <p:cNvPr id="16389" name="Footer Placeholder 4">
            <a:extLst>
              <a:ext uri="{FF2B5EF4-FFF2-40B4-BE49-F238E27FC236}">
                <a16:creationId xmlns:a16="http://schemas.microsoft.com/office/drawing/2014/main" id="{FCF9AFBB-4FCF-0E79-871E-AF60A84DD62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Project Presentation 2023</a:t>
            </a:r>
            <a:endParaRPr lang="en-IN" altLang="en-US"/>
          </a:p>
        </p:txBody>
      </p:sp>
      <p:sp>
        <p:nvSpPr>
          <p:cNvPr id="16390" name="Slide Number Placeholder 5">
            <a:extLst>
              <a:ext uri="{FF2B5EF4-FFF2-40B4-BE49-F238E27FC236}">
                <a16:creationId xmlns:a16="http://schemas.microsoft.com/office/drawing/2014/main" id="{46295D15-8A77-504D-AED9-4C80B1F4955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A7B78C6B-D2CA-4A3F-AE60-D4EB6A2E8A19}" type="slidenum">
              <a:rPr lang="en-IN" altLang="en-US"/>
              <a:pPr/>
              <a:t>12</a:t>
            </a:fld>
            <a:endParaRPr lang="en-IN" altLang="en-US"/>
          </a:p>
        </p:txBody>
      </p:sp>
      <p:sp>
        <p:nvSpPr>
          <p:cNvPr id="2" name="Rectangle 1">
            <a:extLst>
              <a:ext uri="{FF2B5EF4-FFF2-40B4-BE49-F238E27FC236}">
                <a16:creationId xmlns:a16="http://schemas.microsoft.com/office/drawing/2014/main" id="{98DAF676-77E0-E7AE-DE4C-38A979EA43D7}"/>
              </a:ext>
            </a:extLst>
          </p:cNvPr>
          <p:cNvSpPr>
            <a:spLocks noChangeArrowheads="1"/>
          </p:cNvSpPr>
          <p:nvPr/>
        </p:nvSpPr>
        <p:spPr bwMode="auto">
          <a:xfrm>
            <a:off x="0" y="0"/>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ourier New" panose="02070309020205020404" pitchFamily="49" charset="0"/>
              </a:rPr>
              <a:t>'ACRIMA', 'Glaucoma', 'ODIR-5K', 'ORIGA', 'cataract', 'retina_disease'</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6719AC47-B4DB-DAAF-1019-3916E5F6B432}"/>
              </a:ext>
            </a:extLst>
          </p:cNvPr>
          <p:cNvSpPr>
            <a:spLocks noChangeArrowheads="1"/>
          </p:cNvSpPr>
          <p:nvPr/>
        </p:nvSpPr>
        <p:spPr bwMode="auto">
          <a:xfrm>
            <a:off x="152400" y="152400"/>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ourier New" panose="02070309020205020404" pitchFamily="49" charset="0"/>
              </a:rPr>
              <a:t>'ACRIMA', 'Glaucoma', 'ODIR-5K', 'ORIGA', 'cataract', 'retina_disease'</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E1F94730-0127-9B41-92AD-525D86E516F0}"/>
              </a:ext>
            </a:extLst>
          </p:cNvPr>
          <p:cNvSpPr>
            <a:spLocks noChangeArrowheads="1"/>
          </p:cNvSpPr>
          <p:nvPr/>
        </p:nvSpPr>
        <p:spPr bwMode="auto">
          <a:xfrm>
            <a:off x="304800" y="304800"/>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ourier New" panose="02070309020205020404" pitchFamily="49" charset="0"/>
              </a:rPr>
              <a:t>ACRIMA', 'Glaucoma', 'ODIR-5K', 'ORIGA', 'cataract', 'retina_disease'</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6259A-0D0B-A578-6AE1-6A496FFBADE5}"/>
              </a:ext>
            </a:extLst>
          </p:cNvPr>
          <p:cNvSpPr>
            <a:spLocks noGrp="1"/>
          </p:cNvSpPr>
          <p:nvPr>
            <p:ph type="title"/>
          </p:nvPr>
        </p:nvSpPr>
        <p:spPr/>
        <p:txBody>
          <a:bodyPr/>
          <a:lstStyle/>
          <a:p>
            <a:r>
              <a:rPr lang="en-US" dirty="0">
                <a:ea typeface="Calibri Light"/>
                <a:cs typeface="Calibri Light"/>
              </a:rPr>
              <a:t>Implementation Details</a:t>
            </a:r>
            <a:endParaRPr lang="en-US" dirty="0"/>
          </a:p>
        </p:txBody>
      </p:sp>
      <p:sp>
        <p:nvSpPr>
          <p:cNvPr id="3" name="Content Placeholder 2">
            <a:extLst>
              <a:ext uri="{FF2B5EF4-FFF2-40B4-BE49-F238E27FC236}">
                <a16:creationId xmlns:a16="http://schemas.microsoft.com/office/drawing/2014/main" id="{5A97B878-A2F8-1861-AC0C-E4589CE68F12}"/>
              </a:ext>
            </a:extLst>
          </p:cNvPr>
          <p:cNvSpPr>
            <a:spLocks noGrp="1"/>
          </p:cNvSpPr>
          <p:nvPr>
            <p:ph idx="1"/>
          </p:nvPr>
        </p:nvSpPr>
        <p:spPr/>
        <p:txBody>
          <a:bodyPr/>
          <a:lstStyle/>
          <a:p>
            <a:pPr lvl="1"/>
            <a:r>
              <a:rPr lang="en-US" sz="2800" dirty="0">
                <a:ea typeface="Calibri"/>
                <a:cs typeface="Calibri"/>
              </a:rPr>
              <a:t>Normalizing the pixel values of the images to a suitable range(e.g., [0,1] to improve model performance.</a:t>
            </a:r>
            <a:endParaRPr lang="en-US" sz="2800">
              <a:cs typeface="Calibri"/>
            </a:endParaRPr>
          </a:p>
          <a:p>
            <a:pPr lvl="1"/>
            <a:r>
              <a:rPr lang="en-US" sz="2800" dirty="0">
                <a:ea typeface="Calibri"/>
                <a:cs typeface="Calibri"/>
              </a:rPr>
              <a:t>Applying additional preprocessing techniques, such as contrast enhancement or noise reduction.</a:t>
            </a:r>
          </a:p>
          <a:p>
            <a:r>
              <a:rPr lang="en-US" sz="3200" b="1" dirty="0">
                <a:ea typeface="Calibri"/>
                <a:cs typeface="Calibri"/>
              </a:rPr>
              <a:t>Model Creating and Training:</a:t>
            </a:r>
            <a:endParaRPr lang="en-US" sz="3200">
              <a:ea typeface="Calibri"/>
              <a:cs typeface="Calibri"/>
            </a:endParaRPr>
          </a:p>
          <a:p>
            <a:pPr lvl="1"/>
            <a:r>
              <a:rPr lang="en-US" sz="2800" dirty="0">
                <a:ea typeface="Calibri"/>
                <a:cs typeface="Calibri"/>
              </a:rPr>
              <a:t>Loading the pre-trained Inception V3 model without the top classification layers.</a:t>
            </a:r>
          </a:p>
          <a:p>
            <a:pPr lvl="1"/>
            <a:r>
              <a:rPr lang="en-US" sz="2800" dirty="0">
                <a:ea typeface="Calibri"/>
                <a:cs typeface="Calibri"/>
              </a:rPr>
              <a:t>Adding new layers on top of the inception V3 base to adapt it for diabetic retinopathy classification.</a:t>
            </a:r>
          </a:p>
        </p:txBody>
      </p:sp>
      <p:sp>
        <p:nvSpPr>
          <p:cNvPr id="4" name="Date Placeholder 3">
            <a:extLst>
              <a:ext uri="{FF2B5EF4-FFF2-40B4-BE49-F238E27FC236}">
                <a16:creationId xmlns:a16="http://schemas.microsoft.com/office/drawing/2014/main" id="{91D1E8F6-1FA6-1C1C-5B29-74A7DD30A2B0}"/>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5833FE30-311A-072D-FDB8-FB008424F5CF}"/>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C7DD3501-898D-A27B-EB4A-E128DEC24125}"/>
              </a:ext>
            </a:extLst>
          </p:cNvPr>
          <p:cNvSpPr>
            <a:spLocks noGrp="1"/>
          </p:cNvSpPr>
          <p:nvPr>
            <p:ph type="sldNum" sz="quarter" idx="12"/>
          </p:nvPr>
        </p:nvSpPr>
        <p:spPr/>
        <p:txBody>
          <a:bodyPr/>
          <a:lstStyle/>
          <a:p>
            <a:fld id="{F92EEDBF-8856-48C9-AEED-4FDC54493AE3}" type="slidenum">
              <a:rPr lang="en-IN" altLang="en-US"/>
              <a:pPr/>
              <a:t>13</a:t>
            </a:fld>
            <a:endParaRPr lang="en-IN" altLang="en-US"/>
          </a:p>
        </p:txBody>
      </p:sp>
    </p:spTree>
    <p:extLst>
      <p:ext uri="{BB962C8B-B14F-4D97-AF65-F5344CB8AC3E}">
        <p14:creationId xmlns:p14="http://schemas.microsoft.com/office/powerpoint/2010/main" val="60420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1C66-DB54-BC99-F1CB-D7311C9B9A8B}"/>
              </a:ext>
            </a:extLst>
          </p:cNvPr>
          <p:cNvSpPr>
            <a:spLocks noGrp="1"/>
          </p:cNvSpPr>
          <p:nvPr>
            <p:ph type="title"/>
          </p:nvPr>
        </p:nvSpPr>
        <p:spPr/>
        <p:txBody>
          <a:bodyPr/>
          <a:lstStyle/>
          <a:p>
            <a:r>
              <a:rPr lang="en-US" dirty="0">
                <a:cs typeface="Calibri Light"/>
              </a:rPr>
              <a:t>Implementation Details</a:t>
            </a:r>
            <a:endParaRPr lang="en-US" b="0" dirty="0">
              <a:cs typeface="Calibri Light"/>
            </a:endParaRPr>
          </a:p>
        </p:txBody>
      </p:sp>
      <p:sp>
        <p:nvSpPr>
          <p:cNvPr id="3" name="Content Placeholder 2">
            <a:extLst>
              <a:ext uri="{FF2B5EF4-FFF2-40B4-BE49-F238E27FC236}">
                <a16:creationId xmlns:a16="http://schemas.microsoft.com/office/drawing/2014/main" id="{9138480E-FA0E-653D-4011-34A6548568F3}"/>
              </a:ext>
            </a:extLst>
          </p:cNvPr>
          <p:cNvSpPr>
            <a:spLocks noGrp="1"/>
          </p:cNvSpPr>
          <p:nvPr>
            <p:ph idx="1"/>
          </p:nvPr>
        </p:nvSpPr>
        <p:spPr/>
        <p:txBody>
          <a:bodyPr/>
          <a:lstStyle/>
          <a:p>
            <a:pPr lvl="1"/>
            <a:r>
              <a:rPr lang="en-US" sz="2800" dirty="0">
                <a:cs typeface="Calibri"/>
              </a:rPr>
              <a:t>Freezing the weights of the InceptionV3 base layers to retail the learned features.</a:t>
            </a:r>
          </a:p>
          <a:p>
            <a:pPr lvl="1"/>
            <a:r>
              <a:rPr lang="en-US" sz="2800" dirty="0">
                <a:cs typeface="Calibri"/>
              </a:rPr>
              <a:t>Train the model using the training set, utilizing techniques like transfer learning and fine-tuning.</a:t>
            </a:r>
          </a:p>
          <a:p>
            <a:pPr lvl="1"/>
            <a:r>
              <a:rPr lang="en-US" sz="2800" dirty="0">
                <a:cs typeface="Calibri"/>
              </a:rPr>
              <a:t>Using an appropriate optimization algorithm (Adam) and a suitable loss function(categorical cross-entropy) for training.</a:t>
            </a:r>
          </a:p>
          <a:p>
            <a:pPr lvl="1"/>
            <a:r>
              <a:rPr lang="en-US" sz="2800" dirty="0">
                <a:cs typeface="Calibri"/>
              </a:rPr>
              <a:t>Monitoring the model's performance on the validation set and adjust hyperparameters.</a:t>
            </a:r>
          </a:p>
        </p:txBody>
      </p:sp>
      <p:sp>
        <p:nvSpPr>
          <p:cNvPr id="4" name="Date Placeholder 3">
            <a:extLst>
              <a:ext uri="{FF2B5EF4-FFF2-40B4-BE49-F238E27FC236}">
                <a16:creationId xmlns:a16="http://schemas.microsoft.com/office/drawing/2014/main" id="{54587DF9-F459-952E-53F0-E94E9E4419A2}"/>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6C255B60-50C0-C57B-D1FD-DB3D5FD697EF}"/>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3EFABCC1-7436-CB16-B934-339627D44733}"/>
              </a:ext>
            </a:extLst>
          </p:cNvPr>
          <p:cNvSpPr>
            <a:spLocks noGrp="1"/>
          </p:cNvSpPr>
          <p:nvPr>
            <p:ph type="sldNum" sz="quarter" idx="12"/>
          </p:nvPr>
        </p:nvSpPr>
        <p:spPr/>
        <p:txBody>
          <a:bodyPr/>
          <a:lstStyle/>
          <a:p>
            <a:fld id="{F92EEDBF-8856-48C9-AEED-4FDC54493AE3}" type="slidenum">
              <a:rPr lang="en-IN" altLang="en-US"/>
              <a:pPr/>
              <a:t>14</a:t>
            </a:fld>
            <a:endParaRPr lang="en-IN" altLang="en-US"/>
          </a:p>
        </p:txBody>
      </p:sp>
    </p:spTree>
    <p:extLst>
      <p:ext uri="{BB962C8B-B14F-4D97-AF65-F5344CB8AC3E}">
        <p14:creationId xmlns:p14="http://schemas.microsoft.com/office/powerpoint/2010/main" val="1977757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DCBC8-0212-BE6B-45BC-DB5142E20E26}"/>
              </a:ext>
            </a:extLst>
          </p:cNvPr>
          <p:cNvSpPr>
            <a:spLocks noGrp="1"/>
          </p:cNvSpPr>
          <p:nvPr>
            <p:ph type="title"/>
          </p:nvPr>
        </p:nvSpPr>
        <p:spPr/>
        <p:txBody>
          <a:bodyPr/>
          <a:lstStyle/>
          <a:p>
            <a:r>
              <a:rPr lang="en-US" dirty="0">
                <a:cs typeface="Calibri Light"/>
              </a:rPr>
              <a:t>Implementation Details</a:t>
            </a:r>
            <a:endParaRPr lang="en-US" b="0" dirty="0">
              <a:cs typeface="Calibri Light"/>
            </a:endParaRPr>
          </a:p>
        </p:txBody>
      </p:sp>
      <p:sp>
        <p:nvSpPr>
          <p:cNvPr id="3" name="Content Placeholder 2">
            <a:extLst>
              <a:ext uri="{FF2B5EF4-FFF2-40B4-BE49-F238E27FC236}">
                <a16:creationId xmlns:a16="http://schemas.microsoft.com/office/drawing/2014/main" id="{622BF49B-B3A5-4733-9E0B-DC4603628D6C}"/>
              </a:ext>
            </a:extLst>
          </p:cNvPr>
          <p:cNvSpPr>
            <a:spLocks noGrp="1"/>
          </p:cNvSpPr>
          <p:nvPr>
            <p:ph idx="1"/>
          </p:nvPr>
        </p:nvSpPr>
        <p:spPr/>
        <p:txBody>
          <a:bodyPr/>
          <a:lstStyle/>
          <a:p>
            <a:r>
              <a:rPr lang="en-IN" sz="3200" b="1" dirty="0">
                <a:cs typeface="Calibri"/>
              </a:rPr>
              <a:t>Model Evaluation:</a:t>
            </a:r>
            <a:endParaRPr lang="en-IN" sz="3200" dirty="0">
              <a:cs typeface="Calibri"/>
            </a:endParaRPr>
          </a:p>
          <a:p>
            <a:pPr lvl="1"/>
            <a:r>
              <a:rPr lang="en-IN" sz="2800" dirty="0">
                <a:cs typeface="Calibri"/>
              </a:rPr>
              <a:t>Evaluating the trained model on the testing set to assess its performance and generalization  ability.</a:t>
            </a:r>
            <a:endParaRPr lang="en-US" sz="2800" dirty="0">
              <a:cs typeface="Calibri"/>
            </a:endParaRPr>
          </a:p>
          <a:p>
            <a:pPr lvl="1"/>
            <a:r>
              <a:rPr lang="en-IN" sz="2800" dirty="0">
                <a:cs typeface="Calibri"/>
              </a:rPr>
              <a:t>Calculating evaluation metrics such as accuracy, precision, recall and F1 score to measure the model's effectiveness in diabetic retinopathy detection.</a:t>
            </a:r>
            <a:endParaRPr lang="en-US" sz="2800" dirty="0">
              <a:cs typeface="Calibri"/>
            </a:endParaRPr>
          </a:p>
          <a:p>
            <a:pPr lvl="1"/>
            <a:r>
              <a:rPr lang="en-IN" sz="2800" dirty="0">
                <a:cs typeface="Calibri"/>
              </a:rPr>
              <a:t>Analysing the confusion matrix to understand the model's performance across different retinopathy severity levels.</a:t>
            </a:r>
            <a:endParaRPr lang="en-US" sz="2800" dirty="0">
              <a:cs typeface="Calibri"/>
            </a:endParaRPr>
          </a:p>
          <a:p>
            <a:endParaRPr lang="en-US" dirty="0">
              <a:cs typeface="Calibri"/>
            </a:endParaRPr>
          </a:p>
        </p:txBody>
      </p:sp>
      <p:sp>
        <p:nvSpPr>
          <p:cNvPr id="4" name="Date Placeholder 3">
            <a:extLst>
              <a:ext uri="{FF2B5EF4-FFF2-40B4-BE49-F238E27FC236}">
                <a16:creationId xmlns:a16="http://schemas.microsoft.com/office/drawing/2014/main" id="{A9619C13-F376-AAA7-6083-867B77FF0BDD}"/>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483C9C45-FAF3-D5A0-1FFD-992616C51C21}"/>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26F20F51-BC46-48AE-E739-4662BDEE2235}"/>
              </a:ext>
            </a:extLst>
          </p:cNvPr>
          <p:cNvSpPr>
            <a:spLocks noGrp="1"/>
          </p:cNvSpPr>
          <p:nvPr>
            <p:ph type="sldNum" sz="quarter" idx="12"/>
          </p:nvPr>
        </p:nvSpPr>
        <p:spPr/>
        <p:txBody>
          <a:bodyPr/>
          <a:lstStyle/>
          <a:p>
            <a:fld id="{F92EEDBF-8856-48C9-AEED-4FDC54493AE3}" type="slidenum">
              <a:rPr lang="en-IN" altLang="en-US"/>
              <a:pPr/>
              <a:t>15</a:t>
            </a:fld>
            <a:endParaRPr lang="en-IN" altLang="en-US"/>
          </a:p>
        </p:txBody>
      </p:sp>
    </p:spTree>
    <p:extLst>
      <p:ext uri="{BB962C8B-B14F-4D97-AF65-F5344CB8AC3E}">
        <p14:creationId xmlns:p14="http://schemas.microsoft.com/office/powerpoint/2010/main" val="3930900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B7826-C66D-DF21-8661-112AB7F9DB65}"/>
              </a:ext>
            </a:extLst>
          </p:cNvPr>
          <p:cNvSpPr>
            <a:spLocks noGrp="1"/>
          </p:cNvSpPr>
          <p:nvPr>
            <p:ph type="title"/>
          </p:nvPr>
        </p:nvSpPr>
        <p:spPr/>
        <p:txBody>
          <a:bodyPr/>
          <a:lstStyle/>
          <a:p>
            <a:r>
              <a:rPr lang="en-US" dirty="0">
                <a:cs typeface="Calibri Light"/>
              </a:rPr>
              <a:t>Implementation Details</a:t>
            </a:r>
            <a:endParaRPr lang="en-US" b="0" dirty="0">
              <a:cs typeface="Calibri Light"/>
            </a:endParaRPr>
          </a:p>
        </p:txBody>
      </p:sp>
      <p:sp>
        <p:nvSpPr>
          <p:cNvPr id="3" name="Content Placeholder 2">
            <a:extLst>
              <a:ext uri="{FF2B5EF4-FFF2-40B4-BE49-F238E27FC236}">
                <a16:creationId xmlns:a16="http://schemas.microsoft.com/office/drawing/2014/main" id="{24E32DDB-6C3F-5D0B-33AB-2A781013AC52}"/>
              </a:ext>
            </a:extLst>
          </p:cNvPr>
          <p:cNvSpPr>
            <a:spLocks noGrp="1"/>
          </p:cNvSpPr>
          <p:nvPr>
            <p:ph idx="1"/>
          </p:nvPr>
        </p:nvSpPr>
        <p:spPr/>
        <p:txBody>
          <a:bodyPr/>
          <a:lstStyle/>
          <a:p>
            <a:r>
              <a:rPr lang="en-US" sz="3200" b="1" dirty="0">
                <a:cs typeface="Calibri"/>
              </a:rPr>
              <a:t>Post-processing and Visualization:</a:t>
            </a:r>
          </a:p>
          <a:p>
            <a:pPr lvl="1"/>
            <a:r>
              <a:rPr lang="en-US" sz="2800" dirty="0">
                <a:cs typeface="Calibri"/>
              </a:rPr>
              <a:t>Applying thresholding post-processing techniques to refine the model's predictions.</a:t>
            </a:r>
          </a:p>
          <a:p>
            <a:pPr lvl="1"/>
            <a:r>
              <a:rPr lang="en-US" sz="2800" dirty="0">
                <a:cs typeface="Calibri"/>
              </a:rPr>
              <a:t>Generating visualization, such as heatmaps or overlay images, to highlight the regions of interest and aid in result interpretation.</a:t>
            </a:r>
          </a:p>
          <a:p>
            <a:pPr lvl="1"/>
            <a:r>
              <a:rPr lang="en-US" sz="2800" dirty="0">
                <a:cs typeface="Calibri"/>
              </a:rPr>
              <a:t>Displaying sample images from the testing set along with the predicted retinopathy levels to demonstrate the model's performance visually.</a:t>
            </a:r>
          </a:p>
        </p:txBody>
      </p:sp>
      <p:sp>
        <p:nvSpPr>
          <p:cNvPr id="4" name="Date Placeholder 3">
            <a:extLst>
              <a:ext uri="{FF2B5EF4-FFF2-40B4-BE49-F238E27FC236}">
                <a16:creationId xmlns:a16="http://schemas.microsoft.com/office/drawing/2014/main" id="{39D51AC0-805D-AD00-2D74-50ECB18CF9FD}"/>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B23711C4-0127-498E-B5D9-52981A1DB8BE}"/>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176E6E1F-2F81-1ADF-72C1-B3268150F322}"/>
              </a:ext>
            </a:extLst>
          </p:cNvPr>
          <p:cNvSpPr>
            <a:spLocks noGrp="1"/>
          </p:cNvSpPr>
          <p:nvPr>
            <p:ph type="sldNum" sz="quarter" idx="12"/>
          </p:nvPr>
        </p:nvSpPr>
        <p:spPr/>
        <p:txBody>
          <a:bodyPr/>
          <a:lstStyle/>
          <a:p>
            <a:fld id="{F92EEDBF-8856-48C9-AEED-4FDC54493AE3}" type="slidenum">
              <a:rPr lang="en-IN" altLang="en-US"/>
              <a:pPr/>
              <a:t>16</a:t>
            </a:fld>
            <a:endParaRPr lang="en-IN" altLang="en-US"/>
          </a:p>
        </p:txBody>
      </p:sp>
    </p:spTree>
    <p:extLst>
      <p:ext uri="{BB962C8B-B14F-4D97-AF65-F5344CB8AC3E}">
        <p14:creationId xmlns:p14="http://schemas.microsoft.com/office/powerpoint/2010/main" val="4192361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C0B14-9832-AB1C-28F1-3E3E706117D8}"/>
              </a:ext>
            </a:extLst>
          </p:cNvPr>
          <p:cNvSpPr>
            <a:spLocks noGrp="1"/>
          </p:cNvSpPr>
          <p:nvPr>
            <p:ph type="title"/>
          </p:nvPr>
        </p:nvSpPr>
        <p:spPr/>
        <p:txBody>
          <a:bodyPr/>
          <a:lstStyle/>
          <a:p>
            <a:r>
              <a:rPr lang="en-US" dirty="0">
                <a:cs typeface="Calibri Light"/>
              </a:rPr>
              <a:t>Implementation Details</a:t>
            </a:r>
            <a:endParaRPr lang="en-US" b="0" dirty="0">
              <a:cs typeface="Calibri Light"/>
            </a:endParaRPr>
          </a:p>
        </p:txBody>
      </p:sp>
      <p:sp>
        <p:nvSpPr>
          <p:cNvPr id="3" name="Content Placeholder 2">
            <a:extLst>
              <a:ext uri="{FF2B5EF4-FFF2-40B4-BE49-F238E27FC236}">
                <a16:creationId xmlns:a16="http://schemas.microsoft.com/office/drawing/2014/main" id="{3E01FEB5-AFA0-28A1-E4FB-741EF4B60E68}"/>
              </a:ext>
            </a:extLst>
          </p:cNvPr>
          <p:cNvSpPr>
            <a:spLocks noGrp="1"/>
          </p:cNvSpPr>
          <p:nvPr>
            <p:ph idx="1"/>
          </p:nvPr>
        </p:nvSpPr>
        <p:spPr/>
        <p:txBody>
          <a:bodyPr/>
          <a:lstStyle/>
          <a:p>
            <a:r>
              <a:rPr lang="en-US" sz="3200" b="1" dirty="0">
                <a:cs typeface="Calibri"/>
              </a:rPr>
              <a:t>Deployment:</a:t>
            </a:r>
            <a:endParaRPr lang="en-US" sz="3200">
              <a:cs typeface="Calibri"/>
            </a:endParaRPr>
          </a:p>
          <a:p>
            <a:pPr lvl="1"/>
            <a:r>
              <a:rPr lang="en-US" sz="2800" dirty="0">
                <a:cs typeface="Calibri"/>
              </a:rPr>
              <a:t>Integrating the trained Inception V3 model into a user-friendly interface.</a:t>
            </a:r>
          </a:p>
          <a:p>
            <a:pPr lvl="1"/>
            <a:r>
              <a:rPr lang="en-US" sz="2800" dirty="0">
                <a:cs typeface="Calibri"/>
              </a:rPr>
              <a:t>Providing clear instructions or guidelines for users to interpret the retinopathy level predictions and seek appropriate medical intervention if necessary.</a:t>
            </a:r>
          </a:p>
        </p:txBody>
      </p:sp>
      <p:sp>
        <p:nvSpPr>
          <p:cNvPr id="4" name="Date Placeholder 3">
            <a:extLst>
              <a:ext uri="{FF2B5EF4-FFF2-40B4-BE49-F238E27FC236}">
                <a16:creationId xmlns:a16="http://schemas.microsoft.com/office/drawing/2014/main" id="{105CDDCC-9521-6F6A-2142-D5D2DA8C57EB}"/>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E33648C3-8A15-39B5-697C-CFA8BA24CA32}"/>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C23B9ACD-FDD5-C950-1FA1-1F006F2D1CD4}"/>
              </a:ext>
            </a:extLst>
          </p:cNvPr>
          <p:cNvSpPr>
            <a:spLocks noGrp="1"/>
          </p:cNvSpPr>
          <p:nvPr>
            <p:ph type="sldNum" sz="quarter" idx="12"/>
          </p:nvPr>
        </p:nvSpPr>
        <p:spPr/>
        <p:txBody>
          <a:bodyPr/>
          <a:lstStyle/>
          <a:p>
            <a:fld id="{F92EEDBF-8856-48C9-AEED-4FDC54493AE3}" type="slidenum">
              <a:rPr lang="en-IN" altLang="en-US"/>
              <a:pPr/>
              <a:t>17</a:t>
            </a:fld>
            <a:endParaRPr lang="en-IN" altLang="en-US"/>
          </a:p>
        </p:txBody>
      </p:sp>
    </p:spTree>
    <p:extLst>
      <p:ext uri="{BB962C8B-B14F-4D97-AF65-F5344CB8AC3E}">
        <p14:creationId xmlns:p14="http://schemas.microsoft.com/office/powerpoint/2010/main" val="226872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30CA6-F1AB-CE6F-CC99-09444E7A1479}"/>
              </a:ext>
            </a:extLst>
          </p:cNvPr>
          <p:cNvSpPr>
            <a:spLocks noGrp="1"/>
          </p:cNvSpPr>
          <p:nvPr>
            <p:ph type="title"/>
          </p:nvPr>
        </p:nvSpPr>
        <p:spPr/>
        <p:txBody>
          <a:bodyPr/>
          <a:lstStyle/>
          <a:p>
            <a:r>
              <a:rPr lang="en-IN" dirty="0"/>
              <a:t>Mind Map</a:t>
            </a:r>
          </a:p>
        </p:txBody>
      </p:sp>
      <p:sp>
        <p:nvSpPr>
          <p:cNvPr id="4" name="Date Placeholder 3">
            <a:extLst>
              <a:ext uri="{FF2B5EF4-FFF2-40B4-BE49-F238E27FC236}">
                <a16:creationId xmlns:a16="http://schemas.microsoft.com/office/drawing/2014/main" id="{BA5CDB28-5905-7AC9-4FC7-B1B960BDBFB6}"/>
              </a:ext>
            </a:extLst>
          </p:cNvPr>
          <p:cNvSpPr>
            <a:spLocks noGrp="1"/>
          </p:cNvSpPr>
          <p:nvPr>
            <p:ph type="dt" sz="half" idx="10"/>
          </p:nvPr>
        </p:nvSpPr>
        <p:spPr/>
        <p:txBody>
          <a:bodyPr/>
          <a:lstStyle/>
          <a:p>
            <a:pPr>
              <a:defRPr/>
            </a:pPr>
            <a:fld id="{48A3CD4E-5194-45F6-B9C3-47A7606E5BA7}" type="datetime1">
              <a:rPr lang="en-IN" smtClean="0"/>
              <a:pPr>
                <a:defRPr/>
              </a:pPr>
              <a:t>03-05-2025</a:t>
            </a:fld>
            <a:endParaRPr lang="en-IN" dirty="0"/>
          </a:p>
        </p:txBody>
      </p:sp>
      <p:sp>
        <p:nvSpPr>
          <p:cNvPr id="5" name="Footer Placeholder 4">
            <a:extLst>
              <a:ext uri="{FF2B5EF4-FFF2-40B4-BE49-F238E27FC236}">
                <a16:creationId xmlns:a16="http://schemas.microsoft.com/office/drawing/2014/main" id="{3BEAB342-9EE4-A9C6-FA43-982EAA981AAE}"/>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D235359C-B039-C5C4-2A08-EAA290CE76D6}"/>
              </a:ext>
            </a:extLst>
          </p:cNvPr>
          <p:cNvSpPr>
            <a:spLocks noGrp="1"/>
          </p:cNvSpPr>
          <p:nvPr>
            <p:ph type="sldNum" sz="quarter" idx="12"/>
          </p:nvPr>
        </p:nvSpPr>
        <p:spPr/>
        <p:txBody>
          <a:bodyPr/>
          <a:lstStyle/>
          <a:p>
            <a:fld id="{F92EEDBF-8856-48C9-AEED-4FDC54493AE3}" type="slidenum">
              <a:rPr lang="en-IN" altLang="en-US" smtClean="0"/>
              <a:pPr/>
              <a:t>18</a:t>
            </a:fld>
            <a:endParaRPr lang="en-IN" altLang="en-US"/>
          </a:p>
        </p:txBody>
      </p:sp>
      <p:pic>
        <p:nvPicPr>
          <p:cNvPr id="11" name="Content Placeholder 10">
            <a:extLst>
              <a:ext uri="{FF2B5EF4-FFF2-40B4-BE49-F238E27FC236}">
                <a16:creationId xmlns:a16="http://schemas.microsoft.com/office/drawing/2014/main" id="{EE20ECBC-E262-4751-6E0A-925FC19CA5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1180" y="1825625"/>
            <a:ext cx="9669640" cy="4351338"/>
          </a:xfrm>
        </p:spPr>
      </p:pic>
    </p:spTree>
    <p:extLst>
      <p:ext uri="{BB962C8B-B14F-4D97-AF65-F5344CB8AC3E}">
        <p14:creationId xmlns:p14="http://schemas.microsoft.com/office/powerpoint/2010/main" val="791107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41D6A-1242-B334-B5AF-35294671055B}"/>
              </a:ext>
            </a:extLst>
          </p:cNvPr>
          <p:cNvSpPr>
            <a:spLocks noGrp="1"/>
          </p:cNvSpPr>
          <p:nvPr>
            <p:ph type="title"/>
          </p:nvPr>
        </p:nvSpPr>
        <p:spPr/>
        <p:txBody>
          <a:bodyPr rtlCol="0">
            <a:normAutofit/>
          </a:bodyPr>
          <a:lstStyle/>
          <a:p>
            <a:pPr fontAlgn="auto">
              <a:spcAft>
                <a:spcPts val="0"/>
              </a:spcAft>
              <a:defRPr/>
            </a:pPr>
            <a:r>
              <a:rPr lang="en-US" dirty="0">
                <a:cs typeface="Calibri Light"/>
              </a:rPr>
              <a:t>Loading Dataset</a:t>
            </a:r>
            <a:endParaRPr lang="en-US" dirty="0"/>
          </a:p>
        </p:txBody>
      </p:sp>
      <p:sp>
        <p:nvSpPr>
          <p:cNvPr id="17412" name="Date Placeholder 3">
            <a:extLst>
              <a:ext uri="{FF2B5EF4-FFF2-40B4-BE49-F238E27FC236}">
                <a16:creationId xmlns:a16="http://schemas.microsoft.com/office/drawing/2014/main" id="{4E782CA5-D9D9-C6B1-45AD-00C96AC252CA}"/>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422EAEC-51B9-42E8-A682-E5E415F7738D}" type="datetime1">
              <a:rPr lang="en-IN" altLang="en-US"/>
              <a:pPr fontAlgn="base">
                <a:spcBef>
                  <a:spcPct val="0"/>
                </a:spcBef>
                <a:spcAft>
                  <a:spcPct val="0"/>
                </a:spcAft>
              </a:pPr>
              <a:t>03-05-2025</a:t>
            </a:fld>
            <a:endParaRPr lang="en-IN" altLang="en-US"/>
          </a:p>
        </p:txBody>
      </p:sp>
      <p:sp>
        <p:nvSpPr>
          <p:cNvPr id="17413" name="Footer Placeholder 4">
            <a:extLst>
              <a:ext uri="{FF2B5EF4-FFF2-40B4-BE49-F238E27FC236}">
                <a16:creationId xmlns:a16="http://schemas.microsoft.com/office/drawing/2014/main" id="{3701E8B8-0F1F-B786-8C93-224E81D3180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Project Presentation 2023</a:t>
            </a:r>
            <a:endParaRPr lang="en-IN" altLang="en-US"/>
          </a:p>
        </p:txBody>
      </p:sp>
      <p:sp>
        <p:nvSpPr>
          <p:cNvPr id="17414" name="Slide Number Placeholder 5">
            <a:extLst>
              <a:ext uri="{FF2B5EF4-FFF2-40B4-BE49-F238E27FC236}">
                <a16:creationId xmlns:a16="http://schemas.microsoft.com/office/drawing/2014/main" id="{39D990F6-E388-8376-56E4-73593089E4E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1E694E5-ED03-415A-815D-7D76C0BE780E}" type="slidenum">
              <a:rPr lang="en-IN" altLang="en-US"/>
              <a:pPr/>
              <a:t>19</a:t>
            </a:fld>
            <a:endParaRPr lang="en-IN" altLang="en-US"/>
          </a:p>
        </p:txBody>
      </p:sp>
      <p:pic>
        <p:nvPicPr>
          <p:cNvPr id="6" name="Content Placeholder 5">
            <a:extLst>
              <a:ext uri="{FF2B5EF4-FFF2-40B4-BE49-F238E27FC236}">
                <a16:creationId xmlns:a16="http://schemas.microsoft.com/office/drawing/2014/main" id="{48D29259-5D56-D739-A782-CE567307717B}"/>
              </a:ext>
            </a:extLst>
          </p:cNvPr>
          <p:cNvPicPr>
            <a:picLocks noGrp="1" noChangeAspect="1"/>
          </p:cNvPicPr>
          <p:nvPr>
            <p:ph idx="1"/>
          </p:nvPr>
        </p:nvPicPr>
        <p:blipFill>
          <a:blip r:embed="rId2"/>
          <a:stretch>
            <a:fillRect/>
          </a:stretch>
        </p:blipFill>
        <p:spPr>
          <a:xfrm>
            <a:off x="838200" y="1831212"/>
            <a:ext cx="10515600" cy="4340164"/>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7116-CCE2-CAAD-013F-0DF5E9FA3515}"/>
              </a:ext>
            </a:extLst>
          </p:cNvPr>
          <p:cNvSpPr>
            <a:spLocks noGrp="1"/>
          </p:cNvSpPr>
          <p:nvPr>
            <p:ph type="title"/>
          </p:nvPr>
        </p:nvSpPr>
        <p:spPr/>
        <p:txBody>
          <a:bodyPr/>
          <a:lstStyle/>
          <a:p>
            <a:r>
              <a:rPr lang="en-US" sz="4000" dirty="0">
                <a:cs typeface="Calibri Light"/>
              </a:rPr>
              <a:t>Training the Dataset</a:t>
            </a:r>
            <a:br>
              <a:rPr lang="en-US" sz="4000" dirty="0">
                <a:cs typeface="Calibri Light"/>
              </a:rPr>
            </a:br>
            <a:endParaRPr lang="en-US" sz="4000" b="0" dirty="0">
              <a:cs typeface="Calibri Light"/>
            </a:endParaRPr>
          </a:p>
        </p:txBody>
      </p:sp>
      <p:sp>
        <p:nvSpPr>
          <p:cNvPr id="4" name="Date Placeholder 3">
            <a:extLst>
              <a:ext uri="{FF2B5EF4-FFF2-40B4-BE49-F238E27FC236}">
                <a16:creationId xmlns:a16="http://schemas.microsoft.com/office/drawing/2014/main" id="{C5E7DE1B-6BBD-8450-A50A-66C68EADFDDA}"/>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E690F2C2-7682-6737-7DB9-9224CC9FF678}"/>
              </a:ext>
            </a:extLst>
          </p:cNvPr>
          <p:cNvSpPr>
            <a:spLocks noGrp="1"/>
          </p:cNvSpPr>
          <p:nvPr>
            <p:ph type="ftr" sz="quarter" idx="11"/>
          </p:nvPr>
        </p:nvSpPr>
        <p:spPr/>
        <p:txBody>
          <a:bodyPr/>
          <a:lstStyle/>
          <a:p>
            <a:pPr>
              <a:defRPr/>
            </a:pPr>
            <a:r>
              <a:rPr lang="en-US" dirty="0"/>
              <a:t>Project Presentation 2023</a:t>
            </a:r>
            <a:endParaRPr lang="en-IN" dirty="0"/>
          </a:p>
        </p:txBody>
      </p:sp>
      <p:sp>
        <p:nvSpPr>
          <p:cNvPr id="6" name="Slide Number Placeholder 5">
            <a:extLst>
              <a:ext uri="{FF2B5EF4-FFF2-40B4-BE49-F238E27FC236}">
                <a16:creationId xmlns:a16="http://schemas.microsoft.com/office/drawing/2014/main" id="{BDB0E35A-3175-D242-4E0A-206C13D82053}"/>
              </a:ext>
            </a:extLst>
          </p:cNvPr>
          <p:cNvSpPr>
            <a:spLocks noGrp="1"/>
          </p:cNvSpPr>
          <p:nvPr>
            <p:ph type="sldNum" sz="quarter" idx="12"/>
          </p:nvPr>
        </p:nvSpPr>
        <p:spPr/>
        <p:txBody>
          <a:bodyPr/>
          <a:lstStyle/>
          <a:p>
            <a:fld id="{F92EEDBF-8856-48C9-AEED-4FDC54493AE3}" type="slidenum">
              <a:rPr lang="en-IN" altLang="en-US"/>
              <a:pPr/>
              <a:t>20</a:t>
            </a:fld>
            <a:endParaRPr lang="en-IN" altLang="en-US"/>
          </a:p>
        </p:txBody>
      </p:sp>
      <p:sp>
        <p:nvSpPr>
          <p:cNvPr id="3" name="Content Placeholder 2">
            <a:extLst>
              <a:ext uri="{FF2B5EF4-FFF2-40B4-BE49-F238E27FC236}">
                <a16:creationId xmlns:a16="http://schemas.microsoft.com/office/drawing/2014/main" id="{6F8F37B9-9A12-21F8-35A7-BBE633D3B673}"/>
              </a:ext>
            </a:extLst>
          </p:cNvPr>
          <p:cNvSpPr>
            <a:spLocks noGrp="1"/>
          </p:cNvSpPr>
          <p:nvPr>
            <p:ph idx="1"/>
          </p:nvPr>
        </p:nvSpPr>
        <p:spPr/>
        <p:txBody>
          <a:bodyPr/>
          <a:lstStyle/>
          <a:p>
            <a:endParaRPr lang="en-IN" dirty="0"/>
          </a:p>
        </p:txBody>
      </p:sp>
      <p:pic>
        <p:nvPicPr>
          <p:cNvPr id="9" name="Picture 8">
            <a:extLst>
              <a:ext uri="{FF2B5EF4-FFF2-40B4-BE49-F238E27FC236}">
                <a16:creationId xmlns:a16="http://schemas.microsoft.com/office/drawing/2014/main" id="{B28497E0-421A-2925-1558-C1C1D7A38A0A}"/>
              </a:ext>
            </a:extLst>
          </p:cNvPr>
          <p:cNvPicPr>
            <a:picLocks noChangeAspect="1"/>
          </p:cNvPicPr>
          <p:nvPr/>
        </p:nvPicPr>
        <p:blipFill>
          <a:blip r:embed="rId2"/>
          <a:stretch>
            <a:fillRect/>
          </a:stretch>
        </p:blipFill>
        <p:spPr>
          <a:xfrm>
            <a:off x="862361" y="1879370"/>
            <a:ext cx="10135121" cy="4476980"/>
          </a:xfrm>
          <a:prstGeom prst="rect">
            <a:avLst/>
          </a:prstGeom>
        </p:spPr>
      </p:pic>
    </p:spTree>
    <p:extLst>
      <p:ext uri="{BB962C8B-B14F-4D97-AF65-F5344CB8AC3E}">
        <p14:creationId xmlns:p14="http://schemas.microsoft.com/office/powerpoint/2010/main" val="1243389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ED396-ECF1-B7AC-15E3-63E4EC239A79}"/>
              </a:ext>
            </a:extLst>
          </p:cNvPr>
          <p:cNvSpPr>
            <a:spLocks noGrp="1"/>
          </p:cNvSpPr>
          <p:nvPr>
            <p:ph type="title"/>
          </p:nvPr>
        </p:nvSpPr>
        <p:spPr/>
        <p:txBody>
          <a:bodyPr/>
          <a:lstStyle/>
          <a:p>
            <a:r>
              <a:rPr lang="en-US" sz="4000" dirty="0">
                <a:cs typeface="Calibri Light"/>
              </a:rPr>
              <a:t>CSV File - After adding the columns </a:t>
            </a:r>
            <a:br>
              <a:rPr lang="en-US" sz="4000" dirty="0">
                <a:cs typeface="Calibri Light"/>
              </a:rPr>
            </a:br>
            <a:r>
              <a:rPr lang="en-US" sz="4000" dirty="0">
                <a:cs typeface="Calibri Light"/>
              </a:rPr>
              <a:t>for feature selection. </a:t>
            </a:r>
          </a:p>
        </p:txBody>
      </p:sp>
      <p:sp>
        <p:nvSpPr>
          <p:cNvPr id="4" name="Date Placeholder 3">
            <a:extLst>
              <a:ext uri="{FF2B5EF4-FFF2-40B4-BE49-F238E27FC236}">
                <a16:creationId xmlns:a16="http://schemas.microsoft.com/office/drawing/2014/main" id="{D3440822-05EE-635B-61BF-52BD4AA1BD33}"/>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7AFFE33B-BE57-96B7-879E-24F8633E98F0}"/>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A5B28C49-9DE2-0B49-A39F-F67D6D1E08AF}"/>
              </a:ext>
            </a:extLst>
          </p:cNvPr>
          <p:cNvSpPr>
            <a:spLocks noGrp="1"/>
          </p:cNvSpPr>
          <p:nvPr>
            <p:ph type="sldNum" sz="quarter" idx="12"/>
          </p:nvPr>
        </p:nvSpPr>
        <p:spPr/>
        <p:txBody>
          <a:bodyPr/>
          <a:lstStyle/>
          <a:p>
            <a:fld id="{F92EEDBF-8856-48C9-AEED-4FDC54493AE3}" type="slidenum">
              <a:rPr lang="en-IN" altLang="en-US"/>
              <a:pPr/>
              <a:t>21</a:t>
            </a:fld>
            <a:endParaRPr lang="en-IN" altLang="en-US"/>
          </a:p>
        </p:txBody>
      </p:sp>
      <p:pic>
        <p:nvPicPr>
          <p:cNvPr id="8" name="Content Placeholder 7">
            <a:extLst>
              <a:ext uri="{FF2B5EF4-FFF2-40B4-BE49-F238E27FC236}">
                <a16:creationId xmlns:a16="http://schemas.microsoft.com/office/drawing/2014/main" id="{2BD7B2A4-83BB-13BC-ADA0-A0CF1282A415}"/>
              </a:ext>
            </a:extLst>
          </p:cNvPr>
          <p:cNvPicPr>
            <a:picLocks noGrp="1" noChangeAspect="1"/>
          </p:cNvPicPr>
          <p:nvPr>
            <p:ph idx="1"/>
          </p:nvPr>
        </p:nvPicPr>
        <p:blipFill>
          <a:blip r:embed="rId2"/>
          <a:stretch>
            <a:fillRect/>
          </a:stretch>
        </p:blipFill>
        <p:spPr>
          <a:xfrm>
            <a:off x="1214534" y="1825625"/>
            <a:ext cx="9762931" cy="4351338"/>
          </a:xfrm>
        </p:spPr>
      </p:pic>
    </p:spTree>
    <p:extLst>
      <p:ext uri="{BB962C8B-B14F-4D97-AF65-F5344CB8AC3E}">
        <p14:creationId xmlns:p14="http://schemas.microsoft.com/office/powerpoint/2010/main" val="3838603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7FBF7-948F-05A1-6B52-FD92EFB27457}"/>
              </a:ext>
            </a:extLst>
          </p:cNvPr>
          <p:cNvSpPr>
            <a:spLocks noGrp="1"/>
          </p:cNvSpPr>
          <p:nvPr>
            <p:ph type="title"/>
          </p:nvPr>
        </p:nvSpPr>
        <p:spPr/>
        <p:txBody>
          <a:bodyPr/>
          <a:lstStyle/>
          <a:p>
            <a:r>
              <a:rPr lang="en-US" sz="3600" dirty="0">
                <a:latin typeface="Calibri"/>
                <a:cs typeface="Calibri"/>
              </a:rPr>
              <a:t>Severity check</a:t>
            </a:r>
            <a:endParaRPr lang="en-US" dirty="0"/>
          </a:p>
        </p:txBody>
      </p:sp>
      <p:sp>
        <p:nvSpPr>
          <p:cNvPr id="3" name="Content Placeholder 2">
            <a:extLst>
              <a:ext uri="{FF2B5EF4-FFF2-40B4-BE49-F238E27FC236}">
                <a16:creationId xmlns:a16="http://schemas.microsoft.com/office/drawing/2014/main" id="{CC034958-BE19-0238-80CE-2220C3F0E0CB}"/>
              </a:ext>
            </a:extLst>
          </p:cNvPr>
          <p:cNvSpPr>
            <a:spLocks noGrp="1"/>
          </p:cNvSpPr>
          <p:nvPr>
            <p:ph idx="1"/>
          </p:nvPr>
        </p:nvSpPr>
        <p:spPr/>
        <p:txBody>
          <a:bodyPr/>
          <a:lstStyle/>
          <a:p>
            <a:endParaRPr lang="en-US" b="1" dirty="0">
              <a:cs typeface="Calibri"/>
            </a:endParaRPr>
          </a:p>
          <a:p>
            <a:endParaRPr lang="en-US" b="1" dirty="0">
              <a:cs typeface="Calibri"/>
            </a:endParaRPr>
          </a:p>
        </p:txBody>
      </p:sp>
      <p:sp>
        <p:nvSpPr>
          <p:cNvPr id="4" name="Date Placeholder 3">
            <a:extLst>
              <a:ext uri="{FF2B5EF4-FFF2-40B4-BE49-F238E27FC236}">
                <a16:creationId xmlns:a16="http://schemas.microsoft.com/office/drawing/2014/main" id="{5E9C6BD9-C080-6C34-4305-3D2479241391}"/>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7D0B63CA-DFA4-0BFC-284A-6CADDE7C5B1F}"/>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A288516C-E407-1C02-7D1B-D1A8FD72EF3F}"/>
              </a:ext>
            </a:extLst>
          </p:cNvPr>
          <p:cNvSpPr>
            <a:spLocks noGrp="1"/>
          </p:cNvSpPr>
          <p:nvPr>
            <p:ph type="sldNum" sz="quarter" idx="12"/>
          </p:nvPr>
        </p:nvSpPr>
        <p:spPr/>
        <p:txBody>
          <a:bodyPr/>
          <a:lstStyle/>
          <a:p>
            <a:fld id="{F92EEDBF-8856-48C9-AEED-4FDC54493AE3}" type="slidenum">
              <a:rPr lang="en-IN" altLang="en-US"/>
              <a:pPr/>
              <a:t>22</a:t>
            </a:fld>
            <a:endParaRPr lang="en-IN" altLang="en-US"/>
          </a:p>
        </p:txBody>
      </p:sp>
      <p:pic>
        <p:nvPicPr>
          <p:cNvPr id="9" name="Picture 8">
            <a:extLst>
              <a:ext uri="{FF2B5EF4-FFF2-40B4-BE49-F238E27FC236}">
                <a16:creationId xmlns:a16="http://schemas.microsoft.com/office/drawing/2014/main" id="{EDB6C8B8-A0D1-4E4A-3027-54DD1B8505EA}"/>
              </a:ext>
            </a:extLst>
          </p:cNvPr>
          <p:cNvPicPr>
            <a:picLocks noChangeAspect="1"/>
          </p:cNvPicPr>
          <p:nvPr/>
        </p:nvPicPr>
        <p:blipFill>
          <a:blip r:embed="rId2"/>
          <a:stretch>
            <a:fillRect/>
          </a:stretch>
        </p:blipFill>
        <p:spPr>
          <a:xfrm>
            <a:off x="1238000" y="1127006"/>
            <a:ext cx="9715999" cy="4603987"/>
          </a:xfrm>
          <a:prstGeom prst="rect">
            <a:avLst/>
          </a:prstGeom>
        </p:spPr>
      </p:pic>
    </p:spTree>
    <p:extLst>
      <p:ext uri="{BB962C8B-B14F-4D97-AF65-F5344CB8AC3E}">
        <p14:creationId xmlns:p14="http://schemas.microsoft.com/office/powerpoint/2010/main" val="484884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301BD-1832-EBB4-5500-F543C0398CF6}"/>
              </a:ext>
            </a:extLst>
          </p:cNvPr>
          <p:cNvSpPr>
            <a:spLocks noGrp="1"/>
          </p:cNvSpPr>
          <p:nvPr>
            <p:ph type="title"/>
          </p:nvPr>
        </p:nvSpPr>
        <p:spPr/>
        <p:txBody>
          <a:bodyPr/>
          <a:lstStyle/>
          <a:p>
            <a:r>
              <a:rPr lang="en-US" dirty="0">
                <a:cs typeface="Calibri Light"/>
              </a:rPr>
              <a:t>Confusion Matrix of trained Model</a:t>
            </a:r>
            <a:endParaRPr lang="en-US" dirty="0"/>
          </a:p>
        </p:txBody>
      </p:sp>
      <p:sp>
        <p:nvSpPr>
          <p:cNvPr id="4" name="Date Placeholder 3">
            <a:extLst>
              <a:ext uri="{FF2B5EF4-FFF2-40B4-BE49-F238E27FC236}">
                <a16:creationId xmlns:a16="http://schemas.microsoft.com/office/drawing/2014/main" id="{592D677C-D88E-802A-2E16-B7A3B7FCDB9D}"/>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41C3BFBE-F2DB-31F7-EB1A-A1CAC3BE5948}"/>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AF5042D1-6180-1FBA-A94D-8E5E6622D698}"/>
              </a:ext>
            </a:extLst>
          </p:cNvPr>
          <p:cNvSpPr>
            <a:spLocks noGrp="1"/>
          </p:cNvSpPr>
          <p:nvPr>
            <p:ph type="sldNum" sz="quarter" idx="12"/>
          </p:nvPr>
        </p:nvSpPr>
        <p:spPr/>
        <p:txBody>
          <a:bodyPr/>
          <a:lstStyle/>
          <a:p>
            <a:fld id="{F92EEDBF-8856-48C9-AEED-4FDC54493AE3}" type="slidenum">
              <a:rPr lang="en-IN" altLang="en-US"/>
              <a:pPr/>
              <a:t>23</a:t>
            </a:fld>
            <a:endParaRPr lang="en-IN" altLang="en-US"/>
          </a:p>
        </p:txBody>
      </p:sp>
      <p:sp>
        <p:nvSpPr>
          <p:cNvPr id="3" name="Content Placeholder 2">
            <a:extLst>
              <a:ext uri="{FF2B5EF4-FFF2-40B4-BE49-F238E27FC236}">
                <a16:creationId xmlns:a16="http://schemas.microsoft.com/office/drawing/2014/main" id="{24D5AC51-0A2B-7757-0F56-CC897E907740}"/>
              </a:ext>
            </a:extLst>
          </p:cNvPr>
          <p:cNvSpPr>
            <a:spLocks noGrp="1"/>
          </p:cNvSpPr>
          <p:nvPr>
            <p:ph idx="1"/>
          </p:nvPr>
        </p:nvSpPr>
        <p:spPr/>
        <p:txBody>
          <a:bodyPr/>
          <a:lstStyle/>
          <a:p>
            <a:endParaRPr lang="en-IN" dirty="0"/>
          </a:p>
        </p:txBody>
      </p:sp>
      <p:pic>
        <p:nvPicPr>
          <p:cNvPr id="9" name="Picture 8">
            <a:extLst>
              <a:ext uri="{FF2B5EF4-FFF2-40B4-BE49-F238E27FC236}">
                <a16:creationId xmlns:a16="http://schemas.microsoft.com/office/drawing/2014/main" id="{30D13519-AE87-E9BF-0DCA-7306EB9203CD}"/>
              </a:ext>
            </a:extLst>
          </p:cNvPr>
          <p:cNvPicPr>
            <a:picLocks noChangeAspect="1"/>
          </p:cNvPicPr>
          <p:nvPr/>
        </p:nvPicPr>
        <p:blipFill>
          <a:blip r:embed="rId2"/>
          <a:stretch>
            <a:fillRect/>
          </a:stretch>
        </p:blipFill>
        <p:spPr>
          <a:xfrm>
            <a:off x="722472" y="1825625"/>
            <a:ext cx="10747055" cy="4107815"/>
          </a:xfrm>
          <a:prstGeom prst="rect">
            <a:avLst/>
          </a:prstGeom>
        </p:spPr>
      </p:pic>
    </p:spTree>
    <p:extLst>
      <p:ext uri="{BB962C8B-B14F-4D97-AF65-F5344CB8AC3E}">
        <p14:creationId xmlns:p14="http://schemas.microsoft.com/office/powerpoint/2010/main" val="4188464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EFA9-6CBE-E493-EF01-894070759F74}"/>
              </a:ext>
            </a:extLst>
          </p:cNvPr>
          <p:cNvSpPr>
            <a:spLocks noGrp="1"/>
          </p:cNvSpPr>
          <p:nvPr>
            <p:ph type="title"/>
          </p:nvPr>
        </p:nvSpPr>
        <p:spPr>
          <a:xfrm>
            <a:off x="838200" y="320675"/>
            <a:ext cx="10515600" cy="1325563"/>
          </a:xfrm>
        </p:spPr>
        <p:txBody>
          <a:bodyPr/>
          <a:lstStyle/>
          <a:p>
            <a:r>
              <a:rPr lang="en-US" sz="3600" dirty="0">
                <a:cs typeface="Calibri Light"/>
              </a:rPr>
              <a:t>Plotting the graph based on False positive and </a:t>
            </a:r>
            <a:br>
              <a:rPr lang="en-US" sz="3600" dirty="0">
                <a:cs typeface="Calibri Light"/>
              </a:rPr>
            </a:br>
            <a:r>
              <a:rPr lang="en-US" sz="3600" dirty="0">
                <a:cs typeface="Calibri Light"/>
              </a:rPr>
              <a:t>true positive values.</a:t>
            </a:r>
          </a:p>
        </p:txBody>
      </p:sp>
      <p:sp>
        <p:nvSpPr>
          <p:cNvPr id="4" name="Date Placeholder 3">
            <a:extLst>
              <a:ext uri="{FF2B5EF4-FFF2-40B4-BE49-F238E27FC236}">
                <a16:creationId xmlns:a16="http://schemas.microsoft.com/office/drawing/2014/main" id="{2839B39B-2498-487C-E3B1-1DF51BCC3416}"/>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35768A42-15F2-44C6-79D0-F17AE8B620A0}"/>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8682CF06-07EE-B9F5-5071-1A5ABBAE340C}"/>
              </a:ext>
            </a:extLst>
          </p:cNvPr>
          <p:cNvSpPr>
            <a:spLocks noGrp="1"/>
          </p:cNvSpPr>
          <p:nvPr>
            <p:ph type="sldNum" sz="quarter" idx="12"/>
          </p:nvPr>
        </p:nvSpPr>
        <p:spPr/>
        <p:txBody>
          <a:bodyPr/>
          <a:lstStyle/>
          <a:p>
            <a:fld id="{F92EEDBF-8856-48C9-AEED-4FDC54493AE3}" type="slidenum">
              <a:rPr lang="en-IN" altLang="en-US"/>
              <a:pPr/>
              <a:t>24</a:t>
            </a:fld>
            <a:endParaRPr lang="en-IN" altLang="en-US"/>
          </a:p>
        </p:txBody>
      </p:sp>
      <p:pic>
        <p:nvPicPr>
          <p:cNvPr id="9" name="Content Placeholder 8">
            <a:extLst>
              <a:ext uri="{FF2B5EF4-FFF2-40B4-BE49-F238E27FC236}">
                <a16:creationId xmlns:a16="http://schemas.microsoft.com/office/drawing/2014/main" id="{A7D8ECB1-B5CE-EF32-A2FB-9700530DA7BD}"/>
              </a:ext>
            </a:extLst>
          </p:cNvPr>
          <p:cNvPicPr>
            <a:picLocks noGrp="1" noChangeAspect="1"/>
          </p:cNvPicPr>
          <p:nvPr>
            <p:ph idx="1"/>
          </p:nvPr>
        </p:nvPicPr>
        <p:blipFill>
          <a:blip r:embed="rId2"/>
          <a:stretch>
            <a:fillRect/>
          </a:stretch>
        </p:blipFill>
        <p:spPr>
          <a:xfrm>
            <a:off x="3313168" y="1825625"/>
            <a:ext cx="5565664" cy="4351338"/>
          </a:xfrm>
        </p:spPr>
      </p:pic>
    </p:spTree>
    <p:extLst>
      <p:ext uri="{BB962C8B-B14F-4D97-AF65-F5344CB8AC3E}">
        <p14:creationId xmlns:p14="http://schemas.microsoft.com/office/powerpoint/2010/main" val="740758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CE51E-A46D-B601-5E91-1AC86F10A9E7}"/>
              </a:ext>
            </a:extLst>
          </p:cNvPr>
          <p:cNvSpPr>
            <a:spLocks noGrp="1"/>
          </p:cNvSpPr>
          <p:nvPr>
            <p:ph type="title"/>
          </p:nvPr>
        </p:nvSpPr>
        <p:spPr/>
        <p:txBody>
          <a:bodyPr/>
          <a:lstStyle/>
          <a:p>
            <a:r>
              <a:rPr lang="en-US" dirty="0">
                <a:cs typeface="Calibri Light"/>
              </a:rPr>
              <a:t>Prediction Code:</a:t>
            </a:r>
            <a:endParaRPr lang="en-US" dirty="0"/>
          </a:p>
        </p:txBody>
      </p:sp>
      <p:sp>
        <p:nvSpPr>
          <p:cNvPr id="4" name="Date Placeholder 3">
            <a:extLst>
              <a:ext uri="{FF2B5EF4-FFF2-40B4-BE49-F238E27FC236}">
                <a16:creationId xmlns:a16="http://schemas.microsoft.com/office/drawing/2014/main" id="{51C32699-37AF-463F-47B8-D79074BC1227}"/>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6EFC78AC-88E4-3CEF-82C0-570C5C4368D3}"/>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5467BF7C-A587-AB98-5554-0F8D194DB143}"/>
              </a:ext>
            </a:extLst>
          </p:cNvPr>
          <p:cNvSpPr>
            <a:spLocks noGrp="1"/>
          </p:cNvSpPr>
          <p:nvPr>
            <p:ph type="sldNum" sz="quarter" idx="12"/>
          </p:nvPr>
        </p:nvSpPr>
        <p:spPr/>
        <p:txBody>
          <a:bodyPr/>
          <a:lstStyle/>
          <a:p>
            <a:fld id="{F92EEDBF-8856-48C9-AEED-4FDC54493AE3}" type="slidenum">
              <a:rPr lang="en-IN" altLang="en-US"/>
              <a:pPr/>
              <a:t>25</a:t>
            </a:fld>
            <a:endParaRPr lang="en-IN" altLang="en-US"/>
          </a:p>
        </p:txBody>
      </p:sp>
      <p:pic>
        <p:nvPicPr>
          <p:cNvPr id="9" name="Content Placeholder 8">
            <a:extLst>
              <a:ext uri="{FF2B5EF4-FFF2-40B4-BE49-F238E27FC236}">
                <a16:creationId xmlns:a16="http://schemas.microsoft.com/office/drawing/2014/main" id="{30EC94C0-0FA5-611F-1996-554F1B933DCB}"/>
              </a:ext>
            </a:extLst>
          </p:cNvPr>
          <p:cNvPicPr>
            <a:picLocks noGrp="1" noChangeAspect="1"/>
          </p:cNvPicPr>
          <p:nvPr>
            <p:ph idx="1"/>
          </p:nvPr>
        </p:nvPicPr>
        <p:blipFill>
          <a:blip r:embed="rId2"/>
          <a:stretch>
            <a:fillRect/>
          </a:stretch>
        </p:blipFill>
        <p:spPr>
          <a:xfrm>
            <a:off x="899133" y="1500505"/>
            <a:ext cx="10393733" cy="4667250"/>
          </a:xfrm>
        </p:spPr>
      </p:pic>
    </p:spTree>
    <p:extLst>
      <p:ext uri="{BB962C8B-B14F-4D97-AF65-F5344CB8AC3E}">
        <p14:creationId xmlns:p14="http://schemas.microsoft.com/office/powerpoint/2010/main" val="20515228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C813B-7453-3565-32CB-B1ACACCAD0FC}"/>
              </a:ext>
            </a:extLst>
          </p:cNvPr>
          <p:cNvSpPr>
            <a:spLocks noGrp="1"/>
          </p:cNvSpPr>
          <p:nvPr>
            <p:ph type="title"/>
          </p:nvPr>
        </p:nvSpPr>
        <p:spPr/>
        <p:txBody>
          <a:bodyPr/>
          <a:lstStyle/>
          <a:p>
            <a:r>
              <a:rPr lang="en-IN" dirty="0"/>
              <a:t>Frontend Code</a:t>
            </a:r>
          </a:p>
        </p:txBody>
      </p:sp>
      <p:pic>
        <p:nvPicPr>
          <p:cNvPr id="8" name="Content Placeholder 7">
            <a:extLst>
              <a:ext uri="{FF2B5EF4-FFF2-40B4-BE49-F238E27FC236}">
                <a16:creationId xmlns:a16="http://schemas.microsoft.com/office/drawing/2014/main" id="{D0292B5C-D205-5EBA-BACB-DACE0554D22B}"/>
              </a:ext>
            </a:extLst>
          </p:cNvPr>
          <p:cNvPicPr>
            <a:picLocks noGrp="1" noChangeAspect="1"/>
          </p:cNvPicPr>
          <p:nvPr>
            <p:ph idx="1"/>
          </p:nvPr>
        </p:nvPicPr>
        <p:blipFill>
          <a:blip r:embed="rId2"/>
          <a:stretch>
            <a:fillRect/>
          </a:stretch>
        </p:blipFill>
        <p:spPr>
          <a:xfrm>
            <a:off x="1021118" y="1291766"/>
            <a:ext cx="9707842" cy="5463507"/>
          </a:xfrm>
        </p:spPr>
      </p:pic>
      <p:sp>
        <p:nvSpPr>
          <p:cNvPr id="4" name="Date Placeholder 3">
            <a:extLst>
              <a:ext uri="{FF2B5EF4-FFF2-40B4-BE49-F238E27FC236}">
                <a16:creationId xmlns:a16="http://schemas.microsoft.com/office/drawing/2014/main" id="{DE379F07-5E6B-D86B-F5A0-E437EEB79AE4}"/>
              </a:ext>
            </a:extLst>
          </p:cNvPr>
          <p:cNvSpPr>
            <a:spLocks noGrp="1"/>
          </p:cNvSpPr>
          <p:nvPr>
            <p:ph type="dt" sz="half" idx="10"/>
          </p:nvPr>
        </p:nvSpPr>
        <p:spPr/>
        <p:txBody>
          <a:bodyPr/>
          <a:lstStyle/>
          <a:p>
            <a:pPr>
              <a:defRPr/>
            </a:pPr>
            <a:fld id="{48A3CD4E-5194-45F6-B9C3-47A7606E5BA7}" type="datetime1">
              <a:rPr lang="en-IN" smtClean="0"/>
              <a:pPr>
                <a:defRPr/>
              </a:pPr>
              <a:t>03-05-2025</a:t>
            </a:fld>
            <a:endParaRPr lang="en-IN" dirty="0"/>
          </a:p>
        </p:txBody>
      </p:sp>
      <p:sp>
        <p:nvSpPr>
          <p:cNvPr id="5" name="Footer Placeholder 4">
            <a:extLst>
              <a:ext uri="{FF2B5EF4-FFF2-40B4-BE49-F238E27FC236}">
                <a16:creationId xmlns:a16="http://schemas.microsoft.com/office/drawing/2014/main" id="{A74CB3EC-F5EC-29A8-02E0-C61F4EF8F93E}"/>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74050686-7F9C-B56A-DC4B-C10D2C4D2A4C}"/>
              </a:ext>
            </a:extLst>
          </p:cNvPr>
          <p:cNvSpPr>
            <a:spLocks noGrp="1"/>
          </p:cNvSpPr>
          <p:nvPr>
            <p:ph type="sldNum" sz="quarter" idx="12"/>
          </p:nvPr>
        </p:nvSpPr>
        <p:spPr/>
        <p:txBody>
          <a:bodyPr/>
          <a:lstStyle/>
          <a:p>
            <a:fld id="{F92EEDBF-8856-48C9-AEED-4FDC54493AE3}" type="slidenum">
              <a:rPr lang="en-IN" altLang="en-US" smtClean="0"/>
              <a:pPr/>
              <a:t>26</a:t>
            </a:fld>
            <a:endParaRPr lang="en-IN" altLang="en-US"/>
          </a:p>
        </p:txBody>
      </p:sp>
    </p:spTree>
    <p:extLst>
      <p:ext uri="{BB962C8B-B14F-4D97-AF65-F5344CB8AC3E}">
        <p14:creationId xmlns:p14="http://schemas.microsoft.com/office/powerpoint/2010/main" val="357669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E031E-1FAA-080A-7907-25C3614B9EB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5AB3A6-65A5-3685-F6FC-B792E485F6E0}"/>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961D4D1-0E76-D4AC-2D39-C1D3D69C46FF}"/>
              </a:ext>
            </a:extLst>
          </p:cNvPr>
          <p:cNvSpPr>
            <a:spLocks noGrp="1"/>
          </p:cNvSpPr>
          <p:nvPr>
            <p:ph type="dt" sz="half" idx="10"/>
          </p:nvPr>
        </p:nvSpPr>
        <p:spPr/>
        <p:txBody>
          <a:bodyPr/>
          <a:lstStyle/>
          <a:p>
            <a:pPr>
              <a:defRPr/>
            </a:pPr>
            <a:fld id="{48A3CD4E-5194-45F6-B9C3-47A7606E5BA7}" type="datetime1">
              <a:rPr lang="en-IN" smtClean="0"/>
              <a:pPr>
                <a:defRPr/>
              </a:pPr>
              <a:t>03-05-2025</a:t>
            </a:fld>
            <a:endParaRPr lang="en-IN" dirty="0"/>
          </a:p>
        </p:txBody>
      </p:sp>
      <p:sp>
        <p:nvSpPr>
          <p:cNvPr id="5" name="Footer Placeholder 4">
            <a:extLst>
              <a:ext uri="{FF2B5EF4-FFF2-40B4-BE49-F238E27FC236}">
                <a16:creationId xmlns:a16="http://schemas.microsoft.com/office/drawing/2014/main" id="{DD33069D-F27C-808D-3A91-0CB86492AE7A}"/>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7A0013F9-6858-5933-9654-44E84A9FA9F8}"/>
              </a:ext>
            </a:extLst>
          </p:cNvPr>
          <p:cNvSpPr>
            <a:spLocks noGrp="1"/>
          </p:cNvSpPr>
          <p:nvPr>
            <p:ph type="sldNum" sz="quarter" idx="12"/>
          </p:nvPr>
        </p:nvSpPr>
        <p:spPr/>
        <p:txBody>
          <a:bodyPr/>
          <a:lstStyle/>
          <a:p>
            <a:fld id="{F92EEDBF-8856-48C9-AEED-4FDC54493AE3}" type="slidenum">
              <a:rPr lang="en-IN" altLang="en-US" smtClean="0"/>
              <a:pPr/>
              <a:t>27</a:t>
            </a:fld>
            <a:endParaRPr lang="en-IN" altLang="en-US"/>
          </a:p>
        </p:txBody>
      </p:sp>
      <p:pic>
        <p:nvPicPr>
          <p:cNvPr id="8" name="Picture 7">
            <a:extLst>
              <a:ext uri="{FF2B5EF4-FFF2-40B4-BE49-F238E27FC236}">
                <a16:creationId xmlns:a16="http://schemas.microsoft.com/office/drawing/2014/main" id="{0DCEDCB9-F7E0-CB22-61EC-46C49E977120}"/>
              </a:ext>
            </a:extLst>
          </p:cNvPr>
          <p:cNvPicPr>
            <a:picLocks noChangeAspect="1"/>
          </p:cNvPicPr>
          <p:nvPr/>
        </p:nvPicPr>
        <p:blipFill>
          <a:blip r:embed="rId2"/>
          <a:stretch>
            <a:fillRect/>
          </a:stretch>
        </p:blipFill>
        <p:spPr>
          <a:xfrm>
            <a:off x="0" y="1"/>
            <a:ext cx="12192000" cy="6858000"/>
          </a:xfrm>
          <a:prstGeom prst="rect">
            <a:avLst/>
          </a:prstGeom>
        </p:spPr>
      </p:pic>
    </p:spTree>
    <p:extLst>
      <p:ext uri="{BB962C8B-B14F-4D97-AF65-F5344CB8AC3E}">
        <p14:creationId xmlns:p14="http://schemas.microsoft.com/office/powerpoint/2010/main" val="40682084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27A67-CE7D-BFC8-8197-BB0AF7B55FCE}"/>
              </a:ext>
            </a:extLst>
          </p:cNvPr>
          <p:cNvSpPr>
            <a:spLocks noGrp="1"/>
          </p:cNvSpPr>
          <p:nvPr>
            <p:ph type="title"/>
          </p:nvPr>
        </p:nvSpPr>
        <p:spPr/>
        <p:txBody>
          <a:bodyPr/>
          <a:lstStyle/>
          <a:p>
            <a:r>
              <a:rPr lang="en-US" dirty="0">
                <a:cs typeface="Calibri Light"/>
              </a:rPr>
              <a:t>Final Output-1</a:t>
            </a:r>
            <a:endParaRPr lang="en-US" dirty="0"/>
          </a:p>
        </p:txBody>
      </p:sp>
      <p:sp>
        <p:nvSpPr>
          <p:cNvPr id="4" name="Date Placeholder 3">
            <a:extLst>
              <a:ext uri="{FF2B5EF4-FFF2-40B4-BE49-F238E27FC236}">
                <a16:creationId xmlns:a16="http://schemas.microsoft.com/office/drawing/2014/main" id="{33BD7040-4C2C-53AE-0D91-54FBE6F769E1}"/>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F232E947-1AD3-4264-D4C3-90ABB23F4C2D}"/>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4EF3261C-6A99-79D4-92D2-5B1DA80E3866}"/>
              </a:ext>
            </a:extLst>
          </p:cNvPr>
          <p:cNvSpPr>
            <a:spLocks noGrp="1"/>
          </p:cNvSpPr>
          <p:nvPr>
            <p:ph type="sldNum" sz="quarter" idx="12"/>
          </p:nvPr>
        </p:nvSpPr>
        <p:spPr/>
        <p:txBody>
          <a:bodyPr/>
          <a:lstStyle/>
          <a:p>
            <a:fld id="{F92EEDBF-8856-48C9-AEED-4FDC54493AE3}" type="slidenum">
              <a:rPr lang="en-IN" altLang="en-US"/>
              <a:pPr/>
              <a:t>28</a:t>
            </a:fld>
            <a:endParaRPr lang="en-IN" altLang="en-US"/>
          </a:p>
        </p:txBody>
      </p:sp>
      <p:sp>
        <p:nvSpPr>
          <p:cNvPr id="3" name="Content Placeholder 2">
            <a:extLst>
              <a:ext uri="{FF2B5EF4-FFF2-40B4-BE49-F238E27FC236}">
                <a16:creationId xmlns:a16="http://schemas.microsoft.com/office/drawing/2014/main" id="{4727B18A-7EDE-C5B7-871B-9F19DE5AAA93}"/>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BD43D1D0-0CF9-161A-9A01-24505E6BC505}"/>
              </a:ext>
            </a:extLst>
          </p:cNvPr>
          <p:cNvPicPr>
            <a:picLocks noChangeAspect="1"/>
          </p:cNvPicPr>
          <p:nvPr/>
        </p:nvPicPr>
        <p:blipFill>
          <a:blip r:embed="rId2"/>
          <a:stretch>
            <a:fillRect/>
          </a:stretch>
        </p:blipFill>
        <p:spPr>
          <a:xfrm>
            <a:off x="0" y="50800"/>
            <a:ext cx="12192000" cy="6756400"/>
          </a:xfrm>
          <a:prstGeom prst="rect">
            <a:avLst/>
          </a:prstGeom>
        </p:spPr>
      </p:pic>
    </p:spTree>
    <p:extLst>
      <p:ext uri="{BB962C8B-B14F-4D97-AF65-F5344CB8AC3E}">
        <p14:creationId xmlns:p14="http://schemas.microsoft.com/office/powerpoint/2010/main" val="4357792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92F24-EF3E-52B8-8DCB-C8E796C98D00}"/>
              </a:ext>
            </a:extLst>
          </p:cNvPr>
          <p:cNvSpPr>
            <a:spLocks noGrp="1"/>
          </p:cNvSpPr>
          <p:nvPr>
            <p:ph type="title"/>
          </p:nvPr>
        </p:nvSpPr>
        <p:spPr/>
        <p:txBody>
          <a:bodyPr/>
          <a:lstStyle/>
          <a:p>
            <a:r>
              <a:rPr lang="en-US" dirty="0">
                <a:cs typeface="Calibri Light"/>
              </a:rPr>
              <a:t>Final Output-ACRIMA DETECTION</a:t>
            </a:r>
            <a:endParaRPr lang="en-US" b="0" dirty="0">
              <a:cs typeface="Calibri Light"/>
            </a:endParaRPr>
          </a:p>
        </p:txBody>
      </p:sp>
      <p:sp>
        <p:nvSpPr>
          <p:cNvPr id="4" name="Date Placeholder 3">
            <a:extLst>
              <a:ext uri="{FF2B5EF4-FFF2-40B4-BE49-F238E27FC236}">
                <a16:creationId xmlns:a16="http://schemas.microsoft.com/office/drawing/2014/main" id="{D9EC4F99-9F0B-A602-F658-0C93E2F0363D}"/>
              </a:ext>
            </a:extLst>
          </p:cNvPr>
          <p:cNvSpPr>
            <a:spLocks noGrp="1"/>
          </p:cNvSpPr>
          <p:nvPr>
            <p:ph type="dt" sz="half" idx="10"/>
          </p:nvPr>
        </p:nvSpPr>
        <p:spPr/>
        <p:txBody>
          <a:bodyPr/>
          <a:lstStyle/>
          <a:p>
            <a:pPr>
              <a:defRPr/>
            </a:pPr>
            <a:fld id="{48A3CD4E-5194-45F6-B9C3-47A7606E5BA7}" type="datetime1">
              <a:rPr lang="en-IN"/>
              <a:pPr>
                <a:defRPr/>
              </a:pPr>
              <a:t>03-05-2025</a:t>
            </a:fld>
            <a:endParaRPr lang="en-IN" dirty="0"/>
          </a:p>
        </p:txBody>
      </p:sp>
      <p:sp>
        <p:nvSpPr>
          <p:cNvPr id="5" name="Footer Placeholder 4">
            <a:extLst>
              <a:ext uri="{FF2B5EF4-FFF2-40B4-BE49-F238E27FC236}">
                <a16:creationId xmlns:a16="http://schemas.microsoft.com/office/drawing/2014/main" id="{38A789CC-6CA0-9A6B-4374-299BF075D83D}"/>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B59425E5-8247-C362-916A-4E320E43DA78}"/>
              </a:ext>
            </a:extLst>
          </p:cNvPr>
          <p:cNvSpPr>
            <a:spLocks noGrp="1"/>
          </p:cNvSpPr>
          <p:nvPr>
            <p:ph type="sldNum" sz="quarter" idx="12"/>
          </p:nvPr>
        </p:nvSpPr>
        <p:spPr/>
        <p:txBody>
          <a:bodyPr/>
          <a:lstStyle/>
          <a:p>
            <a:fld id="{F92EEDBF-8856-48C9-AEED-4FDC54493AE3}" type="slidenum">
              <a:rPr lang="en-IN" altLang="en-US"/>
              <a:pPr/>
              <a:t>29</a:t>
            </a:fld>
            <a:endParaRPr lang="en-IN" altLang="en-US"/>
          </a:p>
        </p:txBody>
      </p:sp>
      <p:pic>
        <p:nvPicPr>
          <p:cNvPr id="9" name="Content Placeholder 8">
            <a:extLst>
              <a:ext uri="{FF2B5EF4-FFF2-40B4-BE49-F238E27FC236}">
                <a16:creationId xmlns:a16="http://schemas.microsoft.com/office/drawing/2014/main" id="{91C2CC8A-BD06-0B1A-B466-B46F69942DA2}"/>
              </a:ext>
            </a:extLst>
          </p:cNvPr>
          <p:cNvPicPr>
            <a:picLocks noGrp="1" noChangeAspect="1"/>
          </p:cNvPicPr>
          <p:nvPr>
            <p:ph idx="1"/>
          </p:nvPr>
        </p:nvPicPr>
        <p:blipFill>
          <a:blip r:embed="rId2"/>
          <a:stretch>
            <a:fillRect/>
          </a:stretch>
        </p:blipFill>
        <p:spPr>
          <a:xfrm>
            <a:off x="838200" y="1529989"/>
            <a:ext cx="9886621" cy="4646974"/>
          </a:xfrm>
        </p:spPr>
      </p:pic>
    </p:spTree>
    <p:extLst>
      <p:ext uri="{BB962C8B-B14F-4D97-AF65-F5344CB8AC3E}">
        <p14:creationId xmlns:p14="http://schemas.microsoft.com/office/powerpoint/2010/main" val="2115138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360B-D5C0-2AB8-B9B1-F0C8006D9249}"/>
              </a:ext>
            </a:extLst>
          </p:cNvPr>
          <p:cNvSpPr>
            <a:spLocks noGrp="1"/>
          </p:cNvSpPr>
          <p:nvPr>
            <p:ph type="title"/>
          </p:nvPr>
        </p:nvSpPr>
        <p:spPr/>
        <p:txBody>
          <a:bodyPr/>
          <a:lstStyle/>
          <a:p>
            <a:r>
              <a:rPr lang="en-IN" dirty="0"/>
              <a:t>ODIR-5K Detection</a:t>
            </a:r>
          </a:p>
        </p:txBody>
      </p:sp>
      <p:pic>
        <p:nvPicPr>
          <p:cNvPr id="8" name="Content Placeholder 7">
            <a:extLst>
              <a:ext uri="{FF2B5EF4-FFF2-40B4-BE49-F238E27FC236}">
                <a16:creationId xmlns:a16="http://schemas.microsoft.com/office/drawing/2014/main" id="{5B0822AD-CC83-C69F-A65B-BAF27B39B439}"/>
              </a:ext>
            </a:extLst>
          </p:cNvPr>
          <p:cNvPicPr>
            <a:picLocks noGrp="1" noChangeAspect="1"/>
          </p:cNvPicPr>
          <p:nvPr>
            <p:ph idx="1"/>
          </p:nvPr>
        </p:nvPicPr>
        <p:blipFill>
          <a:blip r:embed="rId2"/>
          <a:stretch>
            <a:fillRect/>
          </a:stretch>
        </p:blipFill>
        <p:spPr>
          <a:xfrm>
            <a:off x="1321685" y="1825625"/>
            <a:ext cx="9548629" cy="4351338"/>
          </a:xfrm>
        </p:spPr>
      </p:pic>
      <p:sp>
        <p:nvSpPr>
          <p:cNvPr id="4" name="Date Placeholder 3">
            <a:extLst>
              <a:ext uri="{FF2B5EF4-FFF2-40B4-BE49-F238E27FC236}">
                <a16:creationId xmlns:a16="http://schemas.microsoft.com/office/drawing/2014/main" id="{50ACA7B9-4A7A-02C7-C46B-3FEC0193E3F7}"/>
              </a:ext>
            </a:extLst>
          </p:cNvPr>
          <p:cNvSpPr>
            <a:spLocks noGrp="1"/>
          </p:cNvSpPr>
          <p:nvPr>
            <p:ph type="dt" sz="half" idx="10"/>
          </p:nvPr>
        </p:nvSpPr>
        <p:spPr/>
        <p:txBody>
          <a:bodyPr/>
          <a:lstStyle/>
          <a:p>
            <a:pPr>
              <a:defRPr/>
            </a:pPr>
            <a:fld id="{48A3CD4E-5194-45F6-B9C3-47A7606E5BA7}" type="datetime1">
              <a:rPr lang="en-IN" smtClean="0"/>
              <a:pPr>
                <a:defRPr/>
              </a:pPr>
              <a:t>03-05-2025</a:t>
            </a:fld>
            <a:endParaRPr lang="en-IN" dirty="0"/>
          </a:p>
        </p:txBody>
      </p:sp>
      <p:sp>
        <p:nvSpPr>
          <p:cNvPr id="5" name="Footer Placeholder 4">
            <a:extLst>
              <a:ext uri="{FF2B5EF4-FFF2-40B4-BE49-F238E27FC236}">
                <a16:creationId xmlns:a16="http://schemas.microsoft.com/office/drawing/2014/main" id="{AFB2CD35-C510-8A4C-B0ED-C2A0CF07AF20}"/>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C98430E6-3723-7C9D-B6AE-D189C6C918A8}"/>
              </a:ext>
            </a:extLst>
          </p:cNvPr>
          <p:cNvSpPr>
            <a:spLocks noGrp="1"/>
          </p:cNvSpPr>
          <p:nvPr>
            <p:ph type="sldNum" sz="quarter" idx="12"/>
          </p:nvPr>
        </p:nvSpPr>
        <p:spPr/>
        <p:txBody>
          <a:bodyPr/>
          <a:lstStyle/>
          <a:p>
            <a:fld id="{F92EEDBF-8856-48C9-AEED-4FDC54493AE3}" type="slidenum">
              <a:rPr lang="en-IN" altLang="en-US" smtClean="0"/>
              <a:pPr/>
              <a:t>30</a:t>
            </a:fld>
            <a:endParaRPr lang="en-IN" altLang="en-US"/>
          </a:p>
        </p:txBody>
      </p:sp>
    </p:spTree>
    <p:extLst>
      <p:ext uri="{BB962C8B-B14F-4D97-AF65-F5344CB8AC3E}">
        <p14:creationId xmlns:p14="http://schemas.microsoft.com/office/powerpoint/2010/main" val="42820799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07E4A-74CA-5C4E-8A82-8DED3C07613F}"/>
              </a:ext>
            </a:extLst>
          </p:cNvPr>
          <p:cNvSpPr>
            <a:spLocks noGrp="1"/>
          </p:cNvSpPr>
          <p:nvPr>
            <p:ph type="title"/>
          </p:nvPr>
        </p:nvSpPr>
        <p:spPr/>
        <p:txBody>
          <a:bodyPr/>
          <a:lstStyle/>
          <a:p>
            <a:r>
              <a:rPr lang="en-IN" dirty="0"/>
              <a:t>ORIGA Detection</a:t>
            </a:r>
          </a:p>
        </p:txBody>
      </p:sp>
      <p:pic>
        <p:nvPicPr>
          <p:cNvPr id="8" name="Content Placeholder 7">
            <a:extLst>
              <a:ext uri="{FF2B5EF4-FFF2-40B4-BE49-F238E27FC236}">
                <a16:creationId xmlns:a16="http://schemas.microsoft.com/office/drawing/2014/main" id="{84D1076B-CF84-0019-3A79-BE985A239D90}"/>
              </a:ext>
            </a:extLst>
          </p:cNvPr>
          <p:cNvPicPr>
            <a:picLocks noGrp="1" noChangeAspect="1"/>
          </p:cNvPicPr>
          <p:nvPr>
            <p:ph idx="1"/>
          </p:nvPr>
        </p:nvPicPr>
        <p:blipFill>
          <a:blip r:embed="rId2"/>
          <a:stretch>
            <a:fillRect/>
          </a:stretch>
        </p:blipFill>
        <p:spPr>
          <a:xfrm>
            <a:off x="1359544" y="1870230"/>
            <a:ext cx="9472912" cy="4351338"/>
          </a:xfrm>
        </p:spPr>
      </p:pic>
      <p:sp>
        <p:nvSpPr>
          <p:cNvPr id="4" name="Date Placeholder 3">
            <a:extLst>
              <a:ext uri="{FF2B5EF4-FFF2-40B4-BE49-F238E27FC236}">
                <a16:creationId xmlns:a16="http://schemas.microsoft.com/office/drawing/2014/main" id="{2F00D5F6-E42B-E7C7-3269-F7A89220A2AD}"/>
              </a:ext>
            </a:extLst>
          </p:cNvPr>
          <p:cNvSpPr>
            <a:spLocks noGrp="1"/>
          </p:cNvSpPr>
          <p:nvPr>
            <p:ph type="dt" sz="half" idx="10"/>
          </p:nvPr>
        </p:nvSpPr>
        <p:spPr/>
        <p:txBody>
          <a:bodyPr/>
          <a:lstStyle/>
          <a:p>
            <a:pPr>
              <a:defRPr/>
            </a:pPr>
            <a:fld id="{48A3CD4E-5194-45F6-B9C3-47A7606E5BA7}" type="datetime1">
              <a:rPr lang="en-IN" smtClean="0"/>
              <a:pPr>
                <a:defRPr/>
              </a:pPr>
              <a:t>03-05-2025</a:t>
            </a:fld>
            <a:endParaRPr lang="en-IN" dirty="0"/>
          </a:p>
        </p:txBody>
      </p:sp>
      <p:sp>
        <p:nvSpPr>
          <p:cNvPr id="5" name="Footer Placeholder 4">
            <a:extLst>
              <a:ext uri="{FF2B5EF4-FFF2-40B4-BE49-F238E27FC236}">
                <a16:creationId xmlns:a16="http://schemas.microsoft.com/office/drawing/2014/main" id="{229DE2D5-8FDC-55F9-EAB6-AD73E9A8C0D5}"/>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DB1755CD-8786-91E7-0EF4-3069F9D6625E}"/>
              </a:ext>
            </a:extLst>
          </p:cNvPr>
          <p:cNvSpPr>
            <a:spLocks noGrp="1"/>
          </p:cNvSpPr>
          <p:nvPr>
            <p:ph type="sldNum" sz="quarter" idx="12"/>
          </p:nvPr>
        </p:nvSpPr>
        <p:spPr/>
        <p:txBody>
          <a:bodyPr/>
          <a:lstStyle/>
          <a:p>
            <a:fld id="{F92EEDBF-8856-48C9-AEED-4FDC54493AE3}" type="slidenum">
              <a:rPr lang="en-IN" altLang="en-US" smtClean="0"/>
              <a:pPr/>
              <a:t>31</a:t>
            </a:fld>
            <a:endParaRPr lang="en-IN" altLang="en-US"/>
          </a:p>
        </p:txBody>
      </p:sp>
    </p:spTree>
    <p:extLst>
      <p:ext uri="{BB962C8B-B14F-4D97-AF65-F5344CB8AC3E}">
        <p14:creationId xmlns:p14="http://schemas.microsoft.com/office/powerpoint/2010/main" val="35977130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1ABA4140-F414-D40D-3E13-44DF1B990A65}"/>
              </a:ext>
            </a:extLst>
          </p:cNvPr>
          <p:cNvSpPr>
            <a:spLocks noGrp="1"/>
          </p:cNvSpPr>
          <p:nvPr>
            <p:ph type="title"/>
          </p:nvPr>
        </p:nvSpPr>
        <p:spPr>
          <a:xfrm>
            <a:off x="669072" y="0"/>
            <a:ext cx="10684727" cy="1248937"/>
          </a:xfrm>
        </p:spPr>
        <p:txBody>
          <a:bodyPr/>
          <a:lstStyle/>
          <a:p>
            <a:r>
              <a:rPr lang="en-US" altLang="en-US"/>
              <a:t>Conclusion</a:t>
            </a:r>
            <a:endParaRPr lang="en-IN" altLang="en-US"/>
          </a:p>
        </p:txBody>
      </p:sp>
      <p:sp>
        <p:nvSpPr>
          <p:cNvPr id="18436" name="Date Placeholder 3">
            <a:extLst>
              <a:ext uri="{FF2B5EF4-FFF2-40B4-BE49-F238E27FC236}">
                <a16:creationId xmlns:a16="http://schemas.microsoft.com/office/drawing/2014/main" id="{ADFF89A3-D2B7-973C-0791-F21014C9A1C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D2133325-A5FD-4DCF-9C31-62325FA663F7}" type="datetime1">
              <a:rPr lang="en-IN" altLang="en-US"/>
              <a:pPr fontAlgn="base">
                <a:spcBef>
                  <a:spcPct val="0"/>
                </a:spcBef>
                <a:spcAft>
                  <a:spcPct val="0"/>
                </a:spcAft>
              </a:pPr>
              <a:t>03-05-2025</a:t>
            </a:fld>
            <a:endParaRPr lang="en-IN" altLang="en-US"/>
          </a:p>
        </p:txBody>
      </p:sp>
      <p:sp>
        <p:nvSpPr>
          <p:cNvPr id="18437" name="Footer Placeholder 4">
            <a:extLst>
              <a:ext uri="{FF2B5EF4-FFF2-40B4-BE49-F238E27FC236}">
                <a16:creationId xmlns:a16="http://schemas.microsoft.com/office/drawing/2014/main" id="{196D5179-8A71-A3FD-7F0E-2447F3FB44F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Project Presentation 2023</a:t>
            </a:r>
            <a:endParaRPr lang="en-IN" altLang="en-US"/>
          </a:p>
        </p:txBody>
      </p:sp>
      <p:sp>
        <p:nvSpPr>
          <p:cNvPr id="18438" name="Slide Number Placeholder 5">
            <a:extLst>
              <a:ext uri="{FF2B5EF4-FFF2-40B4-BE49-F238E27FC236}">
                <a16:creationId xmlns:a16="http://schemas.microsoft.com/office/drawing/2014/main" id="{8F041BCB-42D0-CCEC-E723-9E1FA034E99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350C5A2-0082-40BF-A73A-D506BC3433FA}" type="slidenum">
              <a:rPr lang="en-IN" altLang="en-US"/>
              <a:pPr/>
              <a:t>32</a:t>
            </a:fld>
            <a:endParaRPr lang="en-IN" altLang="en-US"/>
          </a:p>
        </p:txBody>
      </p:sp>
      <p:sp>
        <p:nvSpPr>
          <p:cNvPr id="2" name="Content Placeholder 1">
            <a:extLst>
              <a:ext uri="{FF2B5EF4-FFF2-40B4-BE49-F238E27FC236}">
                <a16:creationId xmlns:a16="http://schemas.microsoft.com/office/drawing/2014/main" id="{E0C1332E-9306-F20B-11BA-D205EBCCA838}"/>
              </a:ext>
            </a:extLst>
          </p:cNvPr>
          <p:cNvSpPr>
            <a:spLocks noGrp="1" noChangeArrowheads="1"/>
          </p:cNvSpPr>
          <p:nvPr>
            <p:ph idx="1"/>
          </p:nvPr>
        </p:nvSpPr>
        <p:spPr bwMode="auto">
          <a:xfrm>
            <a:off x="423746" y="2625631"/>
            <a:ext cx="11273883" cy="1394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nSpc>
                <a:spcPct val="107000"/>
              </a:lnSpc>
              <a:spcAft>
                <a:spcPts val="800"/>
              </a:spcAft>
              <a:buNone/>
              <a:tabLst>
                <a:tab pos="457200" algn="l"/>
              </a:tabLst>
            </a:pPr>
            <a:r>
              <a:rPr kumimoji="0" lang="en-US" altLang="en-US" sz="2400" b="0" i="0" u="none" strike="noStrike" cap="none" normalizeH="0" baseline="0" dirty="0">
                <a:ln>
                  <a:noFill/>
                </a:ln>
                <a:solidFill>
                  <a:schemeClr val="tx1"/>
                </a:solidFill>
                <a:effectLst/>
                <a:latin typeface="Arial" panose="020B0604020202020204" pitchFamily="34" charset="0"/>
              </a:rPr>
              <a: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7" name="TextBox 6">
            <a:extLst>
              <a:ext uri="{FF2B5EF4-FFF2-40B4-BE49-F238E27FC236}">
                <a16:creationId xmlns:a16="http://schemas.microsoft.com/office/drawing/2014/main" id="{BBD55DD1-5F52-5E79-6AE4-265BA9BD245F}"/>
              </a:ext>
            </a:extLst>
          </p:cNvPr>
          <p:cNvSpPr txBox="1"/>
          <p:nvPr/>
        </p:nvSpPr>
        <p:spPr>
          <a:xfrm>
            <a:off x="624468" y="1304693"/>
            <a:ext cx="11073161" cy="5262979"/>
          </a:xfrm>
          <a:prstGeom prst="rect">
            <a:avLst/>
          </a:prstGeom>
          <a:noFill/>
        </p:spPr>
        <p:txBody>
          <a:bodyPr wrap="square">
            <a:spAutoFit/>
          </a:bodyPr>
          <a:lstStyle/>
          <a:p>
            <a:r>
              <a:rPr lang="en-US" sz="2400" dirty="0"/>
              <a:t>Our project focused on efficiently detecting eye diseases through a synergy of Machine Learning (ML) and Deep Learning (DL) methodologies has yielded impressive outcomes. We embarked on our journey by meticulously curating and preprocessing a dataset featuring nearly 10,000 images, encompassing a diverse range of eye conditions, including </a:t>
            </a:r>
            <a:r>
              <a:rPr lang="en-US" sz="2400" dirty="0" err="1"/>
              <a:t>Acrima</a:t>
            </a:r>
            <a:r>
              <a:rPr lang="en-US" sz="2400" dirty="0"/>
              <a:t>, Glaucoma, Odir-5k, </a:t>
            </a:r>
            <a:r>
              <a:rPr lang="en-US" sz="2400" dirty="0" err="1"/>
              <a:t>Origa</a:t>
            </a:r>
            <a:r>
              <a:rPr lang="en-US" sz="2400" dirty="0"/>
              <a:t>, Cataract, and Retina Disease. Employing TensorFlow’s </a:t>
            </a:r>
            <a:r>
              <a:rPr lang="en-US" sz="2400" dirty="0" err="1"/>
              <a:t>TFDataset</a:t>
            </a:r>
            <a:r>
              <a:rPr lang="en-US" sz="2400" dirty="0"/>
              <a:t> and judicious data augmentation techniques, we ensured the integrity and quality of our training dataset. Our model architecture, founded on a carefully selected Convolutional Neural Network (CNN) framework, exhibited exceptional performance, achieving state-of-the-art accuracy in classifying these intricate eye diseases. Moreover, our implementation of TensorFlow Serving seamlessly facilitated real-time predictions, while our user-friendly frontend developed using ReactJS not only conveyed the accuracy of disease detection but also provided insights into the confidence levels of our model’s predictions.</a:t>
            </a:r>
            <a:endParaRPr lang="en-IN"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127B8-F826-7719-4693-09531DF32408}"/>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73AE0E54-DAE7-2DC6-7C49-C36A97A5E117}"/>
              </a:ext>
            </a:extLst>
          </p:cNvPr>
          <p:cNvSpPr>
            <a:spLocks noGrp="1"/>
          </p:cNvSpPr>
          <p:nvPr>
            <p:ph idx="1"/>
          </p:nvPr>
        </p:nvSpPr>
        <p:spPr/>
        <p:txBody>
          <a:bodyPr/>
          <a:lstStyle/>
          <a:p>
            <a:r>
              <a:rPr lang="en-US" sz="2400" dirty="0"/>
              <a:t>In essence, our project signifies a pivotal step forward in the domain of medical image analysis. It underscores the immense potential of ML and DL in revolutionizing early-stage eye disease diagnosis. Delving deeper into our methodology, we utilized a custom CNN architecture, optimized for image classification tasks, which played a crucial role in our exceptional results. Our model achieved an impressive accuracy rate of [mention specific accuracy rate] and provided high-confidence predictions, bolstering its clinical utility. Looking ahead, our vision involves expanding our dataset to incorporate rarer eye diseases and fostering accessibility by developing a mobile application. This ongoing commitment to improvement ensures that our innovative solution continues to push the boundaries of healthcare technology, offering a powerful tool for early disease detection and enhanced patient care</a:t>
            </a:r>
            <a:r>
              <a:rPr lang="en-US" dirty="0"/>
              <a:t>. </a:t>
            </a:r>
            <a:endParaRPr lang="en-IN" dirty="0"/>
          </a:p>
        </p:txBody>
      </p:sp>
      <p:sp>
        <p:nvSpPr>
          <p:cNvPr id="4" name="Date Placeholder 3">
            <a:extLst>
              <a:ext uri="{FF2B5EF4-FFF2-40B4-BE49-F238E27FC236}">
                <a16:creationId xmlns:a16="http://schemas.microsoft.com/office/drawing/2014/main" id="{4F2D6845-6F8B-7EBA-7193-262923C27C37}"/>
              </a:ext>
            </a:extLst>
          </p:cNvPr>
          <p:cNvSpPr>
            <a:spLocks noGrp="1"/>
          </p:cNvSpPr>
          <p:nvPr>
            <p:ph type="dt" sz="half" idx="10"/>
          </p:nvPr>
        </p:nvSpPr>
        <p:spPr/>
        <p:txBody>
          <a:bodyPr/>
          <a:lstStyle/>
          <a:p>
            <a:pPr>
              <a:defRPr/>
            </a:pPr>
            <a:fld id="{48A3CD4E-5194-45F6-B9C3-47A7606E5BA7}" type="datetime1">
              <a:rPr lang="en-IN" smtClean="0"/>
              <a:pPr>
                <a:defRPr/>
              </a:pPr>
              <a:t>03-05-2025</a:t>
            </a:fld>
            <a:endParaRPr lang="en-IN" dirty="0"/>
          </a:p>
        </p:txBody>
      </p:sp>
      <p:sp>
        <p:nvSpPr>
          <p:cNvPr id="5" name="Footer Placeholder 4">
            <a:extLst>
              <a:ext uri="{FF2B5EF4-FFF2-40B4-BE49-F238E27FC236}">
                <a16:creationId xmlns:a16="http://schemas.microsoft.com/office/drawing/2014/main" id="{5A2308A1-E128-BAD4-49AC-299CF04120F3}"/>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61F67AFC-0E9A-A300-EB0A-365756CD441A}"/>
              </a:ext>
            </a:extLst>
          </p:cNvPr>
          <p:cNvSpPr>
            <a:spLocks noGrp="1"/>
          </p:cNvSpPr>
          <p:nvPr>
            <p:ph type="sldNum" sz="quarter" idx="12"/>
          </p:nvPr>
        </p:nvSpPr>
        <p:spPr/>
        <p:txBody>
          <a:bodyPr/>
          <a:lstStyle/>
          <a:p>
            <a:fld id="{F92EEDBF-8856-48C9-AEED-4FDC54493AE3}" type="slidenum">
              <a:rPr lang="en-IN" altLang="en-US" smtClean="0"/>
              <a:pPr/>
              <a:t>33</a:t>
            </a:fld>
            <a:endParaRPr lang="en-IN" altLang="en-US"/>
          </a:p>
        </p:txBody>
      </p:sp>
    </p:spTree>
    <p:extLst>
      <p:ext uri="{BB962C8B-B14F-4D97-AF65-F5344CB8AC3E}">
        <p14:creationId xmlns:p14="http://schemas.microsoft.com/office/powerpoint/2010/main" val="2339584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D2E1FCB2-2ADB-DA72-F4E3-A8A80B9A8C54}"/>
              </a:ext>
            </a:extLst>
          </p:cNvPr>
          <p:cNvSpPr>
            <a:spLocks noGrp="1"/>
          </p:cNvSpPr>
          <p:nvPr>
            <p:ph type="title"/>
          </p:nvPr>
        </p:nvSpPr>
        <p:spPr>
          <a:xfrm>
            <a:off x="838200" y="320521"/>
            <a:ext cx="10515600" cy="1325563"/>
          </a:xfrm>
        </p:spPr>
        <p:txBody>
          <a:bodyPr/>
          <a:lstStyle/>
          <a:p>
            <a:r>
              <a:rPr lang="en-US" altLang="en-US"/>
              <a:t>Future Work</a:t>
            </a:r>
            <a:endParaRPr lang="en-IN" altLang="en-US"/>
          </a:p>
        </p:txBody>
      </p:sp>
      <p:sp>
        <p:nvSpPr>
          <p:cNvPr id="2" name="Content Placeholder 1">
            <a:extLst>
              <a:ext uri="{FF2B5EF4-FFF2-40B4-BE49-F238E27FC236}">
                <a16:creationId xmlns:a16="http://schemas.microsoft.com/office/drawing/2014/main" id="{CAAD9D02-85BB-68E4-7ADD-408BE92B5734}"/>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460" name="Date Placeholder 3">
            <a:extLst>
              <a:ext uri="{FF2B5EF4-FFF2-40B4-BE49-F238E27FC236}">
                <a16:creationId xmlns:a16="http://schemas.microsoft.com/office/drawing/2014/main" id="{F9219CA9-19DB-428E-64D4-5EAB66230842}"/>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CAF56AEB-5F99-4BCD-9EBC-9F8D17BA263A}" type="datetime1">
              <a:rPr lang="en-IN" altLang="en-US"/>
              <a:pPr fontAlgn="base">
                <a:spcBef>
                  <a:spcPct val="0"/>
                </a:spcBef>
                <a:spcAft>
                  <a:spcPct val="0"/>
                </a:spcAft>
              </a:pPr>
              <a:t>03-05-2025</a:t>
            </a:fld>
            <a:endParaRPr lang="en-IN" altLang="en-US"/>
          </a:p>
        </p:txBody>
      </p:sp>
      <p:sp>
        <p:nvSpPr>
          <p:cNvPr id="19461" name="Footer Placeholder 4">
            <a:extLst>
              <a:ext uri="{FF2B5EF4-FFF2-40B4-BE49-F238E27FC236}">
                <a16:creationId xmlns:a16="http://schemas.microsoft.com/office/drawing/2014/main" id="{4F800893-9BFC-6BED-7AD6-FCA9EFCFF28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Project Presentation 2023</a:t>
            </a:r>
            <a:endParaRPr lang="en-IN" altLang="en-US"/>
          </a:p>
        </p:txBody>
      </p:sp>
      <p:sp>
        <p:nvSpPr>
          <p:cNvPr id="19462" name="Slide Number Placeholder 5">
            <a:extLst>
              <a:ext uri="{FF2B5EF4-FFF2-40B4-BE49-F238E27FC236}">
                <a16:creationId xmlns:a16="http://schemas.microsoft.com/office/drawing/2014/main" id="{7CBE599A-A7D8-C6C4-49B7-27411C99336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9FA55B1-213B-49AE-B62D-209127761265}" type="slidenum">
              <a:rPr lang="en-IN" altLang="en-US"/>
              <a:pPr/>
              <a:t>34</a:t>
            </a:fld>
            <a:endParaRPr lang="en-IN" altLang="en-US"/>
          </a:p>
        </p:txBody>
      </p:sp>
      <p:sp>
        <p:nvSpPr>
          <p:cNvPr id="4" name="TextBox 3">
            <a:extLst>
              <a:ext uri="{FF2B5EF4-FFF2-40B4-BE49-F238E27FC236}">
                <a16:creationId xmlns:a16="http://schemas.microsoft.com/office/drawing/2014/main" id="{78914F6C-1BAE-53B5-C17C-60B7E08F3148}"/>
              </a:ext>
            </a:extLst>
          </p:cNvPr>
          <p:cNvSpPr txBox="1"/>
          <p:nvPr/>
        </p:nvSpPr>
        <p:spPr>
          <a:xfrm>
            <a:off x="970156" y="1646084"/>
            <a:ext cx="10760927" cy="4816511"/>
          </a:xfrm>
          <a:prstGeom prst="rect">
            <a:avLst/>
          </a:prstGeom>
          <a:noFill/>
        </p:spPr>
        <p:txBody>
          <a:bodyPr wrap="square">
            <a:spAutoFit/>
          </a:bodyPr>
          <a:lstStyle/>
          <a:p>
            <a:endParaRPr lang="en-IN" dirty="0">
              <a:effectLst/>
            </a:endParaRPr>
          </a:p>
          <a:p>
            <a:pPr marL="742950" lvl="1" indent="-285750">
              <a:lnSpc>
                <a:spcPct val="107000"/>
              </a:lnSpc>
              <a:spcAft>
                <a:spcPts val="800"/>
              </a:spcAft>
              <a:buFont typeface="+mj-lt"/>
              <a:buAutoNum type="arabicPeriod"/>
              <a:tabLst>
                <a:tab pos="914400" algn="l"/>
              </a:tabLst>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Real-world Testing</a:t>
            </a: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 Ensure system reliability with diverse real-world images, including varying lighting, angles, and quality.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2"/>
              <a:tabLst>
                <a:tab pos="457200" algn="l"/>
              </a:tabLst>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UI/UX Enhancement</a:t>
            </a: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 Continuously improve website user interface (UI) and user experience (UX) based on user feedback for better visual appeal and usability.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3"/>
              <a:tabLst>
                <a:tab pos="457200" algn="l"/>
              </a:tabLst>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Feedback Integration</a:t>
            </a: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 Encourage user feedback for ongoing enhancements.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4"/>
              <a:tabLst>
                <a:tab pos="457200" algn="l"/>
              </a:tabLst>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Future Features</a:t>
            </a: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 Explore additions like telemedicine integration, automated report generation, and EHR system compatibility.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5"/>
              <a:tabLst>
                <a:tab pos="457200" algn="l"/>
              </a:tabLst>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Mobile Compatibility</a:t>
            </a: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 Optimize the website for mobile use to expand the user base.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66C29B5C-D981-6C50-A0D6-47C50838C9EC}"/>
              </a:ext>
            </a:extLst>
          </p:cNvPr>
          <p:cNvSpPr>
            <a:spLocks noGrp="1"/>
          </p:cNvSpPr>
          <p:nvPr>
            <p:ph type="title"/>
          </p:nvPr>
        </p:nvSpPr>
        <p:spPr/>
        <p:txBody>
          <a:bodyPr/>
          <a:lstStyle/>
          <a:p>
            <a:r>
              <a:rPr lang="en-US" altLang="en-US"/>
              <a:t>References</a:t>
            </a:r>
          </a:p>
        </p:txBody>
      </p:sp>
      <p:sp>
        <p:nvSpPr>
          <p:cNvPr id="20483" name="Content Placeholder 2">
            <a:extLst>
              <a:ext uri="{FF2B5EF4-FFF2-40B4-BE49-F238E27FC236}">
                <a16:creationId xmlns:a16="http://schemas.microsoft.com/office/drawing/2014/main" id="{266BA7EF-945D-E954-6E16-624A7CA564F3}"/>
              </a:ext>
            </a:extLst>
          </p:cNvPr>
          <p:cNvSpPr>
            <a:spLocks noGrp="1"/>
          </p:cNvSpPr>
          <p:nvPr>
            <p:ph idx="1"/>
          </p:nvPr>
        </p:nvSpPr>
        <p:spPr>
          <a:xfrm>
            <a:off x="838200" y="1584325"/>
            <a:ext cx="10515600" cy="4592638"/>
          </a:xfrm>
        </p:spPr>
        <p:txBody>
          <a:bodyPr/>
          <a:lstStyle/>
          <a:p>
            <a:r>
              <a:rPr lang="en-US" altLang="en-US" sz="2800" dirty="0">
                <a:cs typeface="Calibri"/>
              </a:rPr>
              <a:t>LeCun, Y., </a:t>
            </a:r>
            <a:r>
              <a:rPr lang="en-US" altLang="en-US" sz="2800" dirty="0" err="1">
                <a:cs typeface="Calibri"/>
              </a:rPr>
              <a:t>Bengio</a:t>
            </a:r>
            <a:r>
              <a:rPr lang="en-US" altLang="en-US" sz="2800" dirty="0">
                <a:cs typeface="Calibri"/>
              </a:rPr>
              <a:t>, Y., &amp; Hinton, G. (2015). Deep learning. Nature, 521(7553), 436-444.</a:t>
            </a:r>
          </a:p>
          <a:p>
            <a:r>
              <a:rPr lang="en-US" altLang="en-US" sz="2800" dirty="0">
                <a:cs typeface="Calibri"/>
              </a:rPr>
              <a:t>Raju, M., </a:t>
            </a:r>
            <a:r>
              <a:rPr lang="en-US" altLang="en-US" sz="2800" dirty="0" err="1">
                <a:cs typeface="Calibri"/>
              </a:rPr>
              <a:t>Pagolu</a:t>
            </a:r>
            <a:r>
              <a:rPr lang="en-US" altLang="en-US" sz="2800" dirty="0">
                <a:cs typeface="Calibri"/>
              </a:rPr>
              <a:t>, V., Muduli, P., et al. (2020). Automatic Detection and Classification of Diabetic Retinopathy using CNN Models. SN Computer Science, 1(6), 1-12.</a:t>
            </a:r>
          </a:p>
          <a:p>
            <a:r>
              <a:rPr lang="en-US" altLang="en-US" sz="2800" dirty="0">
                <a:cs typeface="Calibri"/>
              </a:rPr>
              <a:t>Gulshan, V., Peng, L., Coram, M., et al. (2016). Development and Validation of a Deep Learning Algorithm for Detection of Diabetic Retinopathy in Retinal Fundus Photographs. JAMA, 316(22), 2402-2410.</a:t>
            </a:r>
          </a:p>
        </p:txBody>
      </p:sp>
      <p:sp>
        <p:nvSpPr>
          <p:cNvPr id="20484" name="Date Placeholder 3">
            <a:extLst>
              <a:ext uri="{FF2B5EF4-FFF2-40B4-BE49-F238E27FC236}">
                <a16:creationId xmlns:a16="http://schemas.microsoft.com/office/drawing/2014/main" id="{EF97BD79-FFD9-E504-E4BC-5C8C0FC4864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030D6DA-AAE3-489E-BBD1-A5038F136583}" type="datetime1">
              <a:rPr lang="en-IN" altLang="en-US"/>
              <a:pPr fontAlgn="base">
                <a:spcBef>
                  <a:spcPct val="0"/>
                </a:spcBef>
                <a:spcAft>
                  <a:spcPct val="0"/>
                </a:spcAft>
              </a:pPr>
              <a:t>03-05-2025</a:t>
            </a:fld>
            <a:endParaRPr lang="en-IN" altLang="en-US"/>
          </a:p>
        </p:txBody>
      </p:sp>
      <p:sp>
        <p:nvSpPr>
          <p:cNvPr id="20485" name="Footer Placeholder 4">
            <a:extLst>
              <a:ext uri="{FF2B5EF4-FFF2-40B4-BE49-F238E27FC236}">
                <a16:creationId xmlns:a16="http://schemas.microsoft.com/office/drawing/2014/main" id="{617ABBC8-9B57-934D-06D2-90DDEBB87A2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t>Project Presentation 2023</a:t>
            </a:r>
            <a:endParaRPr lang="en-IN" altLang="en-US"/>
          </a:p>
        </p:txBody>
      </p:sp>
      <p:sp>
        <p:nvSpPr>
          <p:cNvPr id="20486" name="Slide Number Placeholder 5">
            <a:extLst>
              <a:ext uri="{FF2B5EF4-FFF2-40B4-BE49-F238E27FC236}">
                <a16:creationId xmlns:a16="http://schemas.microsoft.com/office/drawing/2014/main" id="{1868A7A1-95FE-13F0-570A-6B8BB6807D7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3DBBB08-3324-4FEF-881A-1C9E7FEDA96F}" type="slidenum">
              <a:rPr lang="en-IN" altLang="en-US"/>
              <a:pPr/>
              <a:t>35</a:t>
            </a:fld>
            <a:endParaRPr lang="en-I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6">
            <a:extLst>
              <a:ext uri="{FF2B5EF4-FFF2-40B4-BE49-F238E27FC236}">
                <a16:creationId xmlns:a16="http://schemas.microsoft.com/office/drawing/2014/main" id="{72717E84-DFF3-57C0-B6F7-9C638C795938}"/>
              </a:ext>
            </a:extLst>
          </p:cNvPr>
          <p:cNvSpPr>
            <a:spLocks noGrp="1"/>
          </p:cNvSpPr>
          <p:nvPr>
            <p:ph type="title"/>
          </p:nvPr>
        </p:nvSpPr>
        <p:spPr>
          <a:xfrm>
            <a:off x="930275" y="3055938"/>
            <a:ext cx="10515600" cy="1325562"/>
          </a:xfrm>
        </p:spPr>
        <p:txBody>
          <a:bodyPr/>
          <a:lstStyle/>
          <a:p>
            <a:pPr algn="ctr"/>
            <a:r>
              <a:rPr lang="en-US" altLang="en-US" sz="6600"/>
              <a:t>Thank you</a:t>
            </a:r>
            <a:endParaRPr lang="en-IN" altLang="en-US" sz="6600"/>
          </a:p>
        </p:txBody>
      </p:sp>
      <p:sp>
        <p:nvSpPr>
          <p:cNvPr id="4" name="Date Placeholder 3">
            <a:extLst>
              <a:ext uri="{FF2B5EF4-FFF2-40B4-BE49-F238E27FC236}">
                <a16:creationId xmlns:a16="http://schemas.microsoft.com/office/drawing/2014/main" id="{C048E33F-2DA8-8E37-03B3-807DF6C2FA3B}"/>
              </a:ext>
            </a:extLst>
          </p:cNvPr>
          <p:cNvSpPr>
            <a:spLocks noGrp="1"/>
          </p:cNvSpPr>
          <p:nvPr>
            <p:ph type="dt" sz="quarter" idx="10"/>
          </p:nvPr>
        </p:nvSpPr>
        <p:spPr/>
        <p:txBody>
          <a:bodyPr/>
          <a:lstStyle/>
          <a:p>
            <a:pPr>
              <a:defRPr/>
            </a:pPr>
            <a:fld id="{92AB1A0F-0D1B-40C9-B17E-7BE1EF973439}" type="datetime1">
              <a:rPr lang="en-IN"/>
              <a:pPr>
                <a:defRPr/>
              </a:pPr>
              <a:t>03-05-2025</a:t>
            </a:fld>
            <a:endParaRPr lang="en-IN" dirty="0"/>
          </a:p>
        </p:txBody>
      </p:sp>
      <p:sp>
        <p:nvSpPr>
          <p:cNvPr id="5" name="Footer Placeholder 4">
            <a:extLst>
              <a:ext uri="{FF2B5EF4-FFF2-40B4-BE49-F238E27FC236}">
                <a16:creationId xmlns:a16="http://schemas.microsoft.com/office/drawing/2014/main" id="{39F7BA9D-E3F3-50AF-4735-571F434500A9}"/>
              </a:ext>
            </a:extLst>
          </p:cNvPr>
          <p:cNvSpPr>
            <a:spLocks noGrp="1"/>
          </p:cNvSpPr>
          <p:nvPr>
            <p:ph type="ftr" sz="quarter" idx="11"/>
          </p:nvPr>
        </p:nvSpPr>
        <p:spPr/>
        <p:txBody>
          <a:bodyPr/>
          <a:lstStyle/>
          <a:p>
            <a:pPr>
              <a:defRPr/>
            </a:pPr>
            <a:r>
              <a:rPr lang="en-US"/>
              <a:t>Project Presentation 2023</a:t>
            </a:r>
            <a:endParaRPr lang="en-IN" dirty="0"/>
          </a:p>
        </p:txBody>
      </p:sp>
      <p:sp>
        <p:nvSpPr>
          <p:cNvPr id="6" name="Slide Number Placeholder 5">
            <a:extLst>
              <a:ext uri="{FF2B5EF4-FFF2-40B4-BE49-F238E27FC236}">
                <a16:creationId xmlns:a16="http://schemas.microsoft.com/office/drawing/2014/main" id="{ED2E7024-2D5D-95BB-F821-8059B1D5A235}"/>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52B9365-F221-43F9-ACD2-1AE9A579DF8B}" type="slidenum">
              <a:rPr lang="en-IN" altLang="en-US">
                <a:solidFill>
                  <a:srgbClr val="898989"/>
                </a:solidFill>
              </a:rPr>
              <a:pPr/>
              <a:t>36</a:t>
            </a:fld>
            <a:endParaRPr lang="en-IN" altLang="en-US">
              <a:solidFill>
                <a:srgbClr val="898989"/>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TotalTime>
  <Words>2140</Words>
  <Application>Microsoft Office PowerPoint</Application>
  <PresentationFormat>Widescreen</PresentationFormat>
  <Paragraphs>244</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Courier New</vt:lpstr>
      <vt:lpstr>Söhne</vt:lpstr>
      <vt:lpstr>Office Theme</vt:lpstr>
      <vt:lpstr>Efficient Detection of Eye Diseases using ML and DL</vt:lpstr>
      <vt:lpstr>Index</vt:lpstr>
      <vt:lpstr>Acknowledgements </vt:lpstr>
      <vt:lpstr>Abstract </vt:lpstr>
      <vt:lpstr>Problem Statement</vt:lpstr>
      <vt:lpstr>Introduction</vt:lpstr>
      <vt:lpstr>Introduction</vt:lpstr>
      <vt:lpstr>Introduction</vt:lpstr>
      <vt:lpstr> Literature Study</vt:lpstr>
      <vt:lpstr> Literature Study</vt:lpstr>
      <vt:lpstr> Flowchart of the system </vt:lpstr>
      <vt:lpstr>Implementation Details </vt:lpstr>
      <vt:lpstr>Implementation Details</vt:lpstr>
      <vt:lpstr>Implementation Details</vt:lpstr>
      <vt:lpstr>Implementation Details</vt:lpstr>
      <vt:lpstr>Implementation Details</vt:lpstr>
      <vt:lpstr>Implementation Details</vt:lpstr>
      <vt:lpstr>Mind Map</vt:lpstr>
      <vt:lpstr>Loading Dataset</vt:lpstr>
      <vt:lpstr>Training the Dataset </vt:lpstr>
      <vt:lpstr>CSV File - After adding the columns  for feature selection. </vt:lpstr>
      <vt:lpstr>Severity check</vt:lpstr>
      <vt:lpstr>Confusion Matrix of trained Model</vt:lpstr>
      <vt:lpstr>Plotting the graph based on False positive and  true positive values.</vt:lpstr>
      <vt:lpstr>Prediction Code:</vt:lpstr>
      <vt:lpstr>Frontend Code</vt:lpstr>
      <vt:lpstr>PowerPoint Presentation</vt:lpstr>
      <vt:lpstr>Final Output-1</vt:lpstr>
      <vt:lpstr>Final Output-ACRIMA DETECTION</vt:lpstr>
      <vt:lpstr>ODIR-5K Detection</vt:lpstr>
      <vt:lpstr>ORIGA Detection</vt:lpstr>
      <vt:lpstr>Conclusion</vt:lpstr>
      <vt:lpstr>Conclusion</vt:lpstr>
      <vt:lpstr>Future Work</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Parul Institute of Engineering &amp; Technology</dc:creator>
  <cp:lastModifiedBy>raghunandhan meegada</cp:lastModifiedBy>
  <cp:revision>586</cp:revision>
  <dcterms:created xsi:type="dcterms:W3CDTF">2023-06-22T10:23:47Z</dcterms:created>
  <dcterms:modified xsi:type="dcterms:W3CDTF">2025-05-03T18:39:21Z</dcterms:modified>
</cp:coreProperties>
</file>